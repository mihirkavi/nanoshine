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35" roundtripDataSignature="AMtx7mh+TDVYFAzz3pEOJMxAhXPZIF51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customschemas.google.com/relationships/presentationmetadata" Target="metadata"/><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Streptococcus" TargetMode="External"/><Relationship Id="rId3" Type="http://schemas.openxmlformats.org/officeDocument/2006/relationships/hyperlink" Target="https://en.wikipedia.org/wiki/Eikenella" TargetMode="External"/><Relationship Id="rId4" Type="http://schemas.openxmlformats.org/officeDocument/2006/relationships/hyperlink" Target="https://en.wikipedia.org/wiki/Haemophilus" TargetMode="External"/><Relationship Id="rId11" Type="http://schemas.openxmlformats.org/officeDocument/2006/relationships/hyperlink" Target="https://en.wikipedia.org/wiki/Fusobacterium_nucleatum" TargetMode="External"/><Relationship Id="rId10" Type="http://schemas.openxmlformats.org/officeDocument/2006/relationships/hyperlink" Target="https://en.wikipedia.org/wiki/Porphyromonas_gingivalis" TargetMode="External"/><Relationship Id="rId9" Type="http://schemas.openxmlformats.org/officeDocument/2006/relationships/hyperlink" Target="https://en.wikipedia.org/wiki/Treponema" TargetMode="External"/><Relationship Id="rId5" Type="http://schemas.openxmlformats.org/officeDocument/2006/relationships/hyperlink" Target="https://en.wikipedia.org/wiki/Prevotella" TargetMode="External"/><Relationship Id="rId6" Type="http://schemas.openxmlformats.org/officeDocument/2006/relationships/hyperlink" Target="https://en.wikipedia.org/w/index.php?title=Priopionibacterium&amp;action=edit&amp;redlink=1" TargetMode="External"/><Relationship Id="rId7" Type="http://schemas.openxmlformats.org/officeDocument/2006/relationships/hyperlink" Target="https://en.wikipedia.org/wiki/Capnocytophaga" TargetMode="External"/><Relationship Id="rId8" Type="http://schemas.openxmlformats.org/officeDocument/2006/relationships/hyperlink" Target="https://en.wikipedia.org/wiki/Eubacterium"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b="0" i="0" lang="en-US" sz="1200" u="none" strike="noStrike">
                <a:solidFill>
                  <a:schemeClr val="dk1"/>
                </a:solidFill>
                <a:latin typeface="Calibri"/>
                <a:ea typeface="Calibri"/>
                <a:cs typeface="Calibri"/>
                <a:sym typeface="Calibri"/>
              </a:rPr>
              <a:t>Compound annual growth rate (CAGR)</a:t>
            </a:r>
            <a:endParaRPr/>
          </a:p>
          <a:p>
            <a:pPr indent="-171450" lvl="0" marL="171450" rtl="0" algn="l">
              <a:spcBef>
                <a:spcPts val="0"/>
              </a:spcBef>
              <a:spcAft>
                <a:spcPts val="0"/>
              </a:spcAft>
              <a:buClr>
                <a:schemeClr val="dk1"/>
              </a:buClr>
              <a:buSzPts val="1200"/>
              <a:buFont typeface="Arial"/>
              <a:buChar char="•"/>
            </a:pPr>
            <a:r>
              <a:rPr lang="en-US"/>
              <a:t>https://www.grandviewresearch.com/industry-analysis/oral-care-market</a:t>
            </a:r>
            <a:endParaRPr/>
          </a:p>
          <a:p>
            <a:pPr indent="-171450" lvl="0" marL="171450" rtl="0" algn="l">
              <a:spcBef>
                <a:spcPts val="0"/>
              </a:spcBef>
              <a:spcAft>
                <a:spcPts val="0"/>
              </a:spcAft>
              <a:buClr>
                <a:schemeClr val="dk1"/>
              </a:buClr>
              <a:buSzPts val="1200"/>
              <a:buFont typeface="Arial"/>
              <a:buChar char="•"/>
            </a:pPr>
            <a:r>
              <a:rPr lang="en-US"/>
              <a:t>https://www.bloomberg.com/press-releases/2019-11-12/global-oral-care-market-2019-2023-evolving-opportunities-with-church-dwight-co-inc-and-colgate-palmolive-company</a:t>
            </a:r>
            <a:endParaRPr/>
          </a:p>
          <a:p>
            <a:pPr indent="-95250" lvl="0" marL="171450" rtl="0" algn="l">
              <a:spcBef>
                <a:spcPts val="0"/>
              </a:spcBef>
              <a:spcAft>
                <a:spcPts val="0"/>
              </a:spcAft>
              <a:buClr>
                <a:schemeClr val="dk1"/>
              </a:buClr>
              <a:buSzPts val="1200"/>
              <a:buFont typeface="Arial"/>
              <a:buNone/>
            </a:pPr>
            <a:r>
              <a:t/>
            </a:r>
            <a:endParaRPr/>
          </a:p>
        </p:txBody>
      </p:sp>
      <p:sp>
        <p:nvSpPr>
          <p:cNvPr id="107" name="Google Shape;10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en-US"/>
              <a:t>https://www.marketsandmarkets.com/Market-Reports/oral-care-market-80546246.html</a:t>
            </a:r>
            <a:endParaRPr/>
          </a:p>
          <a:p>
            <a:pPr indent="-171450" lvl="0" marL="171450" rtl="0" algn="l">
              <a:spcBef>
                <a:spcPts val="0"/>
              </a:spcBef>
              <a:spcAft>
                <a:spcPts val="0"/>
              </a:spcAft>
              <a:buClr>
                <a:schemeClr val="dk1"/>
              </a:buClr>
              <a:buSzPts val="1200"/>
              <a:buFont typeface="Arial"/>
              <a:buChar char="•"/>
            </a:pPr>
            <a:r>
              <a:rPr lang="en-US"/>
              <a:t>https://www.alliedmarketresearch.com/dental-consumables-market</a:t>
            </a:r>
            <a:endParaRPr/>
          </a:p>
        </p:txBody>
      </p:sp>
      <p:sp>
        <p:nvSpPr>
          <p:cNvPr id="118" name="Google Shape;11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en-US"/>
              <a:t>https://www.cda-adc.ca/jcda/vol-66/issue-10/539.html</a:t>
            </a:r>
            <a:endParaRPr/>
          </a:p>
          <a:p>
            <a:pPr indent="-171450" lvl="0" marL="171450" rtl="0" algn="l">
              <a:spcBef>
                <a:spcPts val="0"/>
              </a:spcBef>
              <a:spcAft>
                <a:spcPts val="0"/>
              </a:spcAft>
              <a:buClr>
                <a:schemeClr val="dk1"/>
              </a:buClr>
              <a:buSzPts val="1200"/>
              <a:buFont typeface="Arial"/>
              <a:buChar char="•"/>
            </a:pPr>
            <a:r>
              <a:rPr lang="en-US"/>
              <a:t>https://aem.asm.org/content/66/8/3363</a:t>
            </a:r>
            <a:endParaRPr/>
          </a:p>
          <a:p>
            <a:pPr indent="-171450" lvl="0" marL="171450" rtl="0" algn="l">
              <a:spcBef>
                <a:spcPts val="0"/>
              </a:spcBef>
              <a:spcAft>
                <a:spcPts val="0"/>
              </a:spcAft>
              <a:buClr>
                <a:schemeClr val="dk1"/>
              </a:buClr>
              <a:buSzPts val="1200"/>
              <a:buFont typeface="Arial"/>
              <a:buChar char="•"/>
            </a:pPr>
            <a:r>
              <a:rPr lang="en-US"/>
              <a:t>https://www.ncbi.nlm.nih.gov/pmc/articles/PMC3312703/</a:t>
            </a:r>
            <a:endParaRPr/>
          </a:p>
          <a:p>
            <a:pPr indent="-171450" lvl="0" marL="171450" rtl="0" algn="l">
              <a:spcBef>
                <a:spcPts val="0"/>
              </a:spcBef>
              <a:spcAft>
                <a:spcPts val="0"/>
              </a:spcAft>
              <a:buClr>
                <a:schemeClr val="dk1"/>
              </a:buClr>
              <a:buSzPts val="1200"/>
              <a:buFont typeface="Arial"/>
              <a:buChar char="•"/>
            </a:pPr>
            <a:r>
              <a:rPr lang="en-US"/>
              <a:t>https://www.rdhmag.com/infection-control/article/16406310/safe-water-delivery</a:t>
            </a:r>
            <a:endParaRPr/>
          </a:p>
          <a:p>
            <a:pPr indent="-95250" lvl="0" marL="171450" rtl="0" algn="l">
              <a:spcBef>
                <a:spcPts val="0"/>
              </a:spcBef>
              <a:spcAft>
                <a:spcPts val="0"/>
              </a:spcAft>
              <a:buClr>
                <a:schemeClr val="dk1"/>
              </a:buClr>
              <a:buSzPts val="1200"/>
              <a:buFont typeface="Arial"/>
              <a:buNone/>
            </a:pPr>
            <a:r>
              <a:t/>
            </a:r>
            <a:endParaRPr/>
          </a:p>
        </p:txBody>
      </p:sp>
      <p:sp>
        <p:nvSpPr>
          <p:cNvPr id="150" name="Google Shape;15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en-US"/>
              <a:t>https://www.cda-adc.ca/jcda/vol-66/issue-10/539.html</a:t>
            </a:r>
            <a:endParaRPr/>
          </a:p>
          <a:p>
            <a:pPr indent="-171450" lvl="0" marL="171450" rtl="0" algn="l">
              <a:spcBef>
                <a:spcPts val="0"/>
              </a:spcBef>
              <a:spcAft>
                <a:spcPts val="0"/>
              </a:spcAft>
              <a:buClr>
                <a:schemeClr val="dk1"/>
              </a:buClr>
              <a:buSzPts val="1200"/>
              <a:buFont typeface="Arial"/>
              <a:buChar char="•"/>
            </a:pPr>
            <a:r>
              <a:rPr lang="en-US"/>
              <a:t>https://aem.asm.org/content/66/8/3363</a:t>
            </a:r>
            <a:endParaRPr/>
          </a:p>
          <a:p>
            <a:pPr indent="-171450" lvl="0" marL="171450" rtl="0" algn="l">
              <a:spcBef>
                <a:spcPts val="0"/>
              </a:spcBef>
              <a:spcAft>
                <a:spcPts val="0"/>
              </a:spcAft>
              <a:buClr>
                <a:schemeClr val="dk1"/>
              </a:buClr>
              <a:buSzPts val="1200"/>
              <a:buFont typeface="Arial"/>
              <a:buChar char="•"/>
            </a:pPr>
            <a:r>
              <a:rPr lang="en-US"/>
              <a:t>Guidelines : https://www.osap.org/page/Issues_DUWL_3/Dental-Unit-Waterlines-Dental-Unit-Water-Line-Fact-Sheet.htm</a:t>
            </a:r>
            <a:endParaRPr/>
          </a:p>
          <a:p>
            <a:pPr indent="-95250" lvl="0" marL="171450" rtl="0" algn="l">
              <a:spcBef>
                <a:spcPts val="0"/>
              </a:spcBef>
              <a:spcAft>
                <a:spcPts val="0"/>
              </a:spcAft>
              <a:buClr>
                <a:schemeClr val="dk1"/>
              </a:buClr>
              <a:buSzPts val="1200"/>
              <a:buFont typeface="Arial"/>
              <a:buNone/>
            </a:pPr>
            <a:r>
              <a:t/>
            </a:r>
            <a:endParaRPr/>
          </a:p>
          <a:p>
            <a:pPr indent="-95250" lvl="0" marL="171450" rtl="0" algn="l">
              <a:spcBef>
                <a:spcPts val="0"/>
              </a:spcBef>
              <a:spcAft>
                <a:spcPts val="0"/>
              </a:spcAft>
              <a:buClr>
                <a:schemeClr val="dk1"/>
              </a:buClr>
              <a:buSzPts val="1200"/>
              <a:buFont typeface="Arial"/>
              <a:buNone/>
            </a:pPr>
            <a:r>
              <a:t/>
            </a:r>
            <a:endParaRPr/>
          </a:p>
        </p:txBody>
      </p:sp>
      <p:sp>
        <p:nvSpPr>
          <p:cNvPr id="161" name="Google Shape;16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en-US"/>
              <a:t>https://www.ncbi.nlm.nih.gov/pmc/articles/PMC6163956/</a:t>
            </a:r>
            <a:endParaRPr/>
          </a:p>
          <a:p>
            <a:pPr indent="-171450" lvl="0" marL="171450" rtl="0" algn="l">
              <a:spcBef>
                <a:spcPts val="0"/>
              </a:spcBef>
              <a:spcAft>
                <a:spcPts val="0"/>
              </a:spcAft>
              <a:buClr>
                <a:schemeClr val="dk1"/>
              </a:buClr>
              <a:buSzPts val="1200"/>
              <a:buFont typeface="Arial"/>
              <a:buChar char="•"/>
            </a:pPr>
            <a:r>
              <a:rPr b="1" lang="en-US">
                <a:highlight>
                  <a:srgbClr val="FFFF00"/>
                </a:highlight>
              </a:rPr>
              <a:t>https://www.researchgate.net/publication/273463928_Biofilm_in_endodontics_A_review</a:t>
            </a:r>
            <a:endParaRPr/>
          </a:p>
          <a:p>
            <a:pPr indent="-171450" lvl="0" marL="171450" rtl="0" algn="l">
              <a:spcBef>
                <a:spcPts val="0"/>
              </a:spcBef>
              <a:spcAft>
                <a:spcPts val="0"/>
              </a:spcAft>
              <a:buClr>
                <a:schemeClr val="dk1"/>
              </a:buClr>
              <a:buSzPts val="1200"/>
              <a:buFont typeface="Arial"/>
              <a:buChar char="•"/>
            </a:pPr>
            <a:r>
              <a:rPr b="1" lang="en-US"/>
              <a:t>https://onlinelibrary.wiley.com/doi/full/10.1111/iej.13050</a:t>
            </a:r>
            <a:endParaRPr/>
          </a:p>
          <a:p>
            <a:pPr indent="-171450" lvl="0" marL="171450" rtl="0" algn="l">
              <a:spcBef>
                <a:spcPts val="0"/>
              </a:spcBef>
              <a:spcAft>
                <a:spcPts val="0"/>
              </a:spcAft>
              <a:buClr>
                <a:schemeClr val="dk1"/>
              </a:buClr>
              <a:buSzPts val="1200"/>
              <a:buFont typeface="Arial"/>
              <a:buChar char="•"/>
            </a:pPr>
            <a:r>
              <a:rPr b="1" lang="en-US">
                <a:highlight>
                  <a:srgbClr val="FFFF00"/>
                </a:highlight>
              </a:rPr>
              <a:t>https://www.ncbi.nlm.nih.gov/pmc/articles/PMC5578138/</a:t>
            </a:r>
            <a:endParaRPr/>
          </a:p>
          <a:p>
            <a:pPr indent="0" lvl="0" marL="0" rtl="0" algn="l">
              <a:spcBef>
                <a:spcPts val="0"/>
              </a:spcBef>
              <a:spcAft>
                <a:spcPts val="0"/>
              </a:spcAft>
              <a:buNone/>
            </a:pPr>
            <a:r>
              <a:t/>
            </a:r>
            <a:endParaRPr/>
          </a:p>
        </p:txBody>
      </p:sp>
      <p:sp>
        <p:nvSpPr>
          <p:cNvPr id="183" name="Google Shape;18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https://www.transparencymarketresearch.com/pressrelease/periodontal-therapeutics-market.htm</a:t>
            </a:r>
            <a:endParaRPr/>
          </a:p>
        </p:txBody>
      </p:sp>
      <p:sp>
        <p:nvSpPr>
          <p:cNvPr id="202" name="Google Shape;20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https://www.transparencymarketresearch.com/pressrelease/periodontal-therapeutics-market.htm</a:t>
            </a:r>
            <a:endParaRPr/>
          </a:p>
          <a:p>
            <a:pPr indent="0" lvl="0" marL="0" rtl="0" algn="l">
              <a:spcBef>
                <a:spcPts val="0"/>
              </a:spcBef>
              <a:spcAft>
                <a:spcPts val="0"/>
              </a:spcAft>
              <a:buNone/>
            </a:pPr>
            <a:r>
              <a:t/>
            </a:r>
            <a:endParaRPr/>
          </a:p>
        </p:txBody>
      </p:sp>
      <p:sp>
        <p:nvSpPr>
          <p:cNvPr id="212" name="Google Shape;21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en-US"/>
              <a:t>https://www.futuremarketinsights.com/reports/dental-caries-market</a:t>
            </a:r>
            <a:endParaRPr/>
          </a:p>
          <a:p>
            <a:pPr indent="-171450" lvl="0" marL="171450" rtl="0" algn="l">
              <a:spcBef>
                <a:spcPts val="0"/>
              </a:spcBef>
              <a:spcAft>
                <a:spcPts val="0"/>
              </a:spcAft>
              <a:buClr>
                <a:schemeClr val="dk1"/>
              </a:buClr>
              <a:buSzPts val="1200"/>
              <a:buFont typeface="Arial"/>
              <a:buChar char="•"/>
            </a:pPr>
            <a:r>
              <a:rPr lang="en-US"/>
              <a:t>https://www.mordorintelligence.com/industry-reports/dental-caries-treatment-market</a:t>
            </a:r>
            <a:endParaRPr/>
          </a:p>
        </p:txBody>
      </p:sp>
      <p:sp>
        <p:nvSpPr>
          <p:cNvPr id="222" name="Google Shape;22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en-US"/>
              <a:t>https://www.factmr.com/report/1110/denture-disinfectants-market</a:t>
            </a:r>
            <a:endParaRPr/>
          </a:p>
          <a:p>
            <a:pPr indent="-171450" lvl="0" marL="171450" rtl="0" algn="l">
              <a:spcBef>
                <a:spcPts val="0"/>
              </a:spcBef>
              <a:spcAft>
                <a:spcPts val="0"/>
              </a:spcAft>
              <a:buClr>
                <a:schemeClr val="dk1"/>
              </a:buClr>
              <a:buSzPts val="1200"/>
              <a:buFont typeface="Arial"/>
              <a:buChar char="•"/>
            </a:pPr>
            <a:r>
              <a:rPr lang="en-US"/>
              <a:t>Denture companies: https://www.marketwatch.com/press-release/denture-market-size-share-2019-global-business-trends-share-progress-insight-modest-analysis-statistics-regional-demands-and-forecast-to-2024-2019-11-01</a:t>
            </a:r>
            <a:endParaRPr/>
          </a:p>
          <a:p>
            <a:pPr indent="-171450" lvl="0" marL="171450" rtl="0" algn="l">
              <a:spcBef>
                <a:spcPts val="0"/>
              </a:spcBef>
              <a:spcAft>
                <a:spcPts val="0"/>
              </a:spcAft>
              <a:buClr>
                <a:schemeClr val="dk1"/>
              </a:buClr>
              <a:buSzPts val="1200"/>
              <a:buFont typeface="Arial"/>
              <a:buChar char="•"/>
            </a:pPr>
            <a:r>
              <a:rPr lang="en-US"/>
              <a:t>https://emedicine.medscape.com/article/1075994-overview</a:t>
            </a:r>
            <a:endParaRPr/>
          </a:p>
          <a:p>
            <a:pPr indent="-95250" lvl="0" marL="171450" rtl="0" algn="l">
              <a:spcBef>
                <a:spcPts val="0"/>
              </a:spcBef>
              <a:spcAft>
                <a:spcPts val="0"/>
              </a:spcAft>
              <a:buClr>
                <a:schemeClr val="dk1"/>
              </a:buClr>
              <a:buSzPts val="1200"/>
              <a:buFont typeface="Arial"/>
              <a:buNone/>
            </a:pPr>
            <a:r>
              <a:t/>
            </a:r>
            <a:endParaRPr/>
          </a:p>
          <a:p>
            <a:pPr indent="-95250" lvl="0" marL="171450" rtl="0" algn="l">
              <a:spcBef>
                <a:spcPts val="0"/>
              </a:spcBef>
              <a:spcAft>
                <a:spcPts val="0"/>
              </a:spcAft>
              <a:buClr>
                <a:schemeClr val="dk1"/>
              </a:buClr>
              <a:buSzPts val="1200"/>
              <a:buFont typeface="Arial"/>
              <a:buNone/>
            </a:pPr>
            <a:r>
              <a:t/>
            </a:r>
            <a:endParaRPr/>
          </a:p>
        </p:txBody>
      </p:sp>
      <p:sp>
        <p:nvSpPr>
          <p:cNvPr id="234" name="Google Shape;23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en-US"/>
              <a:t>https://onlinelibrary.wiley.com/doi/full/10.1111/iej.13050</a:t>
            </a:r>
            <a:endParaRPr/>
          </a:p>
          <a:p>
            <a:pPr indent="-171450" lvl="0" marL="171450" rtl="0" algn="l">
              <a:spcBef>
                <a:spcPts val="0"/>
              </a:spcBef>
              <a:spcAft>
                <a:spcPts val="0"/>
              </a:spcAft>
              <a:buClr>
                <a:schemeClr val="dk1"/>
              </a:buClr>
              <a:buSzPts val="1200"/>
              <a:buFont typeface="Arial"/>
              <a:buChar char="•"/>
            </a:pPr>
            <a:r>
              <a:rPr lang="en-US"/>
              <a:t>https://www.ncbi.nlm.nih.gov/pmc/articles/PMC5578138/</a:t>
            </a:r>
            <a:endParaRPr/>
          </a:p>
          <a:p>
            <a:pPr indent="-171450" lvl="0" marL="171450" rtl="0" algn="l">
              <a:spcBef>
                <a:spcPts val="0"/>
              </a:spcBef>
              <a:spcAft>
                <a:spcPts val="0"/>
              </a:spcAft>
              <a:buClr>
                <a:schemeClr val="dk1"/>
              </a:buClr>
              <a:buSzPts val="1200"/>
              <a:buFont typeface="Arial"/>
              <a:buChar char="•"/>
            </a:pPr>
            <a:r>
              <a:rPr lang="en-US"/>
              <a:t>https://www.aae.org/specialty/about-aae/news-room/endodontic-treatment-statistics/</a:t>
            </a:r>
            <a:endParaRPr/>
          </a:p>
          <a:p>
            <a:pPr indent="-171450" lvl="0" marL="171450" rtl="0" algn="l">
              <a:spcBef>
                <a:spcPts val="0"/>
              </a:spcBef>
              <a:spcAft>
                <a:spcPts val="0"/>
              </a:spcAft>
              <a:buClr>
                <a:schemeClr val="dk1"/>
              </a:buClr>
              <a:buSzPts val="1200"/>
              <a:buFont typeface="Arial"/>
              <a:buChar char="•"/>
            </a:pPr>
            <a:r>
              <a:rPr lang="en-US"/>
              <a:t>https://www.ncbi.nlm.nih.gov/pmc/articles/PMC4601489/</a:t>
            </a:r>
            <a:endParaRPr/>
          </a:p>
          <a:p>
            <a:pPr indent="-95250" lvl="0" marL="171450" rtl="0" algn="l">
              <a:spcBef>
                <a:spcPts val="0"/>
              </a:spcBef>
              <a:spcAft>
                <a:spcPts val="0"/>
              </a:spcAft>
              <a:buClr>
                <a:schemeClr val="dk1"/>
              </a:buClr>
              <a:buSzPts val="1200"/>
              <a:buFont typeface="Arial"/>
              <a:buNone/>
            </a:pPr>
            <a:r>
              <a:t/>
            </a:r>
            <a:endParaRPr/>
          </a:p>
        </p:txBody>
      </p:sp>
      <p:sp>
        <p:nvSpPr>
          <p:cNvPr id="244" name="Google Shape;24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Early colonisers</a:t>
            </a:r>
            <a:endParaRPr/>
          </a:p>
          <a:p>
            <a:pPr indent="0" lvl="0" marL="0" rtl="0" algn="l">
              <a:spcBef>
                <a:spcPts val="0"/>
              </a:spcBef>
              <a:spcAft>
                <a:spcPts val="0"/>
              </a:spcAft>
              <a:buNone/>
            </a:pPr>
            <a:r>
              <a:rPr lang="en-US"/>
              <a:t>mainly </a:t>
            </a:r>
            <a:r>
              <a:rPr i="1" lang="en-US" u="sng">
                <a:solidFill>
                  <a:schemeClr val="hlink"/>
                </a:solidFill>
                <a:hlinkClick r:id="rId2"/>
              </a:rPr>
              <a:t>Streptococcus</a:t>
            </a:r>
            <a:r>
              <a:rPr lang="en-US"/>
              <a:t> species (60-90%)</a:t>
            </a:r>
            <a:endParaRPr/>
          </a:p>
          <a:p>
            <a:pPr indent="0" lvl="0" marL="0" rtl="0" algn="l">
              <a:spcBef>
                <a:spcPts val="0"/>
              </a:spcBef>
              <a:spcAft>
                <a:spcPts val="0"/>
              </a:spcAft>
              <a:buNone/>
            </a:pPr>
            <a:r>
              <a:rPr i="1" lang="en-US" u="sng">
                <a:solidFill>
                  <a:schemeClr val="hlink"/>
                </a:solidFill>
                <a:hlinkClick r:id="rId3"/>
              </a:rPr>
              <a:t>Eikenella</a:t>
            </a:r>
            <a:r>
              <a:rPr lang="en-US"/>
              <a:t> spp.</a:t>
            </a:r>
            <a:endParaRPr/>
          </a:p>
          <a:p>
            <a:pPr indent="0" lvl="0" marL="0" rtl="0" algn="l">
              <a:spcBef>
                <a:spcPts val="0"/>
              </a:spcBef>
              <a:spcAft>
                <a:spcPts val="0"/>
              </a:spcAft>
              <a:buNone/>
            </a:pPr>
            <a:r>
              <a:rPr i="1" lang="en-US" u="sng">
                <a:solidFill>
                  <a:schemeClr val="hlink"/>
                </a:solidFill>
                <a:hlinkClick r:id="rId4"/>
              </a:rPr>
              <a:t>Haemophilus</a:t>
            </a:r>
            <a:r>
              <a:rPr lang="en-US"/>
              <a:t> spp.</a:t>
            </a:r>
            <a:endParaRPr/>
          </a:p>
          <a:p>
            <a:pPr indent="0" lvl="0" marL="0" rtl="0" algn="l">
              <a:spcBef>
                <a:spcPts val="0"/>
              </a:spcBef>
              <a:spcAft>
                <a:spcPts val="0"/>
              </a:spcAft>
              <a:buNone/>
            </a:pPr>
            <a:r>
              <a:rPr i="1" lang="en-US" u="sng">
                <a:solidFill>
                  <a:schemeClr val="hlink"/>
                </a:solidFill>
                <a:hlinkClick r:id="rId5"/>
              </a:rPr>
              <a:t>Prevotella</a:t>
            </a:r>
            <a:r>
              <a:rPr lang="en-US"/>
              <a:t> spp.</a:t>
            </a:r>
            <a:endParaRPr/>
          </a:p>
          <a:p>
            <a:pPr indent="0" lvl="0" marL="0" rtl="0" algn="l">
              <a:spcBef>
                <a:spcPts val="0"/>
              </a:spcBef>
              <a:spcAft>
                <a:spcPts val="0"/>
              </a:spcAft>
              <a:buNone/>
            </a:pPr>
            <a:r>
              <a:rPr i="1" lang="en-US" u="sng">
                <a:solidFill>
                  <a:schemeClr val="hlink"/>
                </a:solidFill>
                <a:hlinkClick r:id="rId6"/>
              </a:rPr>
              <a:t>Priopionibacterium</a:t>
            </a:r>
            <a:r>
              <a:rPr lang="en-US"/>
              <a:t> spp.</a:t>
            </a:r>
            <a:endParaRPr/>
          </a:p>
          <a:p>
            <a:pPr indent="0" lvl="0" marL="0" rtl="0" algn="l">
              <a:spcBef>
                <a:spcPts val="0"/>
              </a:spcBef>
              <a:spcAft>
                <a:spcPts val="0"/>
              </a:spcAft>
              <a:buNone/>
            </a:pPr>
            <a:r>
              <a:rPr i="1" lang="en-US" u="sng">
                <a:solidFill>
                  <a:schemeClr val="hlink"/>
                </a:solidFill>
                <a:hlinkClick r:id="rId7"/>
              </a:rPr>
              <a:t>Capnocytophaga</a:t>
            </a:r>
            <a:r>
              <a:rPr lang="en-US"/>
              <a:t> spp.</a:t>
            </a:r>
            <a:endParaRPr/>
          </a:p>
          <a:p>
            <a:pPr indent="0" lvl="0" marL="0" rtl="0" algn="l">
              <a:spcBef>
                <a:spcPts val="0"/>
              </a:spcBef>
              <a:spcAft>
                <a:spcPts val="0"/>
              </a:spcAft>
              <a:buNone/>
            </a:pPr>
            <a:r>
              <a:rPr i="1" lang="en-US"/>
              <a:t>Veillonella</a:t>
            </a:r>
            <a:r>
              <a:rPr lang="en-US"/>
              <a:t> spp.</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Late colonisers</a:t>
            </a:r>
            <a:r>
              <a:rPr lang="en-US"/>
              <a:t> </a:t>
            </a:r>
            <a:endParaRPr/>
          </a:p>
          <a:p>
            <a:pPr indent="0" lvl="0" marL="0" rtl="0" algn="l">
              <a:spcBef>
                <a:spcPts val="0"/>
              </a:spcBef>
              <a:spcAft>
                <a:spcPts val="0"/>
              </a:spcAft>
              <a:buNone/>
            </a:pPr>
            <a:r>
              <a:rPr i="1" lang="en-US"/>
              <a:t>A. actino- mycetemcomitans</a:t>
            </a:r>
            <a:endParaRPr/>
          </a:p>
          <a:p>
            <a:pPr indent="0" lvl="0" marL="0" rtl="0" algn="l">
              <a:spcBef>
                <a:spcPts val="0"/>
              </a:spcBef>
              <a:spcAft>
                <a:spcPts val="0"/>
              </a:spcAft>
              <a:buNone/>
            </a:pPr>
            <a:r>
              <a:rPr i="1" lang="en-US"/>
              <a:t>Prevotella intermedia</a:t>
            </a:r>
            <a:endParaRPr/>
          </a:p>
          <a:p>
            <a:pPr indent="0" lvl="0" marL="0" rtl="0" algn="l">
              <a:spcBef>
                <a:spcPts val="0"/>
              </a:spcBef>
              <a:spcAft>
                <a:spcPts val="0"/>
              </a:spcAft>
              <a:buNone/>
            </a:pPr>
            <a:r>
              <a:rPr i="1" lang="en-US" u="sng">
                <a:solidFill>
                  <a:schemeClr val="hlink"/>
                </a:solidFill>
                <a:hlinkClick r:id="rId8"/>
              </a:rPr>
              <a:t>Eubacterium</a:t>
            </a:r>
            <a:r>
              <a:rPr lang="en-US"/>
              <a:t> spp.</a:t>
            </a:r>
            <a:endParaRPr/>
          </a:p>
          <a:p>
            <a:pPr indent="0" lvl="0" marL="0" rtl="0" algn="l">
              <a:spcBef>
                <a:spcPts val="0"/>
              </a:spcBef>
              <a:spcAft>
                <a:spcPts val="0"/>
              </a:spcAft>
              <a:buNone/>
            </a:pPr>
            <a:r>
              <a:rPr i="1" lang="en-US" u="sng">
                <a:solidFill>
                  <a:schemeClr val="hlink"/>
                </a:solidFill>
                <a:hlinkClick r:id="rId9"/>
              </a:rPr>
              <a:t>Treponema</a:t>
            </a:r>
            <a:r>
              <a:rPr lang="en-US"/>
              <a:t> spp.</a:t>
            </a:r>
            <a:endParaRPr/>
          </a:p>
          <a:p>
            <a:pPr indent="0" lvl="0" marL="0" rtl="0" algn="l">
              <a:spcBef>
                <a:spcPts val="0"/>
              </a:spcBef>
              <a:spcAft>
                <a:spcPts val="0"/>
              </a:spcAft>
              <a:buNone/>
            </a:pPr>
            <a:r>
              <a:rPr i="1" lang="en-US" u="sng">
                <a:solidFill>
                  <a:schemeClr val="hlink"/>
                </a:solidFill>
                <a:hlinkClick r:id="rId10"/>
              </a:rPr>
              <a:t>Porphyromonas gingivalis</a:t>
            </a:r>
            <a:endParaRPr/>
          </a:p>
          <a:p>
            <a:pPr indent="0" lvl="0" marL="0" rtl="0" algn="l">
              <a:spcBef>
                <a:spcPts val="0"/>
              </a:spcBef>
              <a:spcAft>
                <a:spcPts val="0"/>
              </a:spcAft>
              <a:buNone/>
            </a:pPr>
            <a:r>
              <a:rPr i="1" lang="en-US" u="sng">
                <a:solidFill>
                  <a:schemeClr val="hlink"/>
                </a:solidFill>
                <a:hlinkClick r:id="rId11"/>
              </a:rPr>
              <a:t>Fusobacterium nucleatum</a:t>
            </a:r>
            <a:r>
              <a:rPr lang="en-US"/>
              <a:t> is found between the early and late colonisers, linking them together. </a:t>
            </a:r>
            <a:endParaRPr/>
          </a:p>
          <a:p>
            <a:pPr indent="0" lvl="0" marL="0" rtl="0" algn="l">
              <a:spcBef>
                <a:spcPts val="0"/>
              </a:spcBef>
              <a:spcAft>
                <a:spcPts val="0"/>
              </a:spcAft>
              <a:buNone/>
            </a:pPr>
            <a:r>
              <a:t/>
            </a:r>
            <a:endParaRPr/>
          </a:p>
        </p:txBody>
      </p:sp>
      <p:sp>
        <p:nvSpPr>
          <p:cNvPr id="272" name="Google Shape;272;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en-US"/>
              <a:t>https://www.ncbi.nlm.nih.gov/pmc/articles/PMC3312703/</a:t>
            </a:r>
            <a:endParaRPr/>
          </a:p>
          <a:p>
            <a:pPr indent="-171450" lvl="0" marL="171450" rtl="0" algn="l">
              <a:spcBef>
                <a:spcPts val="0"/>
              </a:spcBef>
              <a:spcAft>
                <a:spcPts val="0"/>
              </a:spcAft>
              <a:buClr>
                <a:schemeClr val="dk1"/>
              </a:buClr>
              <a:buSzPts val="1200"/>
              <a:buFont typeface="Arial"/>
              <a:buChar char="•"/>
            </a:pPr>
            <a:r>
              <a:rPr lang="en-US"/>
              <a:t>https://www.sciencedirect.com/science/article/abs/pii/S1286457915000672</a:t>
            </a:r>
            <a:endParaRPr/>
          </a:p>
        </p:txBody>
      </p:sp>
      <p:sp>
        <p:nvSpPr>
          <p:cNvPr id="284" name="Google Shape;284;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en-US"/>
              <a:t>https://www.ncbi.nlm.nih.gov/pmc/articles/PMC6163956/</a:t>
            </a:r>
            <a:endParaRPr/>
          </a:p>
        </p:txBody>
      </p:sp>
      <p:sp>
        <p:nvSpPr>
          <p:cNvPr id="304" name="Google Shape;304;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en-US"/>
              <a:t>https://www.ncbi.nlm.nih.gov/pmc/articles/PMC6163956/</a:t>
            </a:r>
            <a:endParaRPr/>
          </a:p>
          <a:p>
            <a:pPr indent="-171450" lvl="0" marL="171450" rtl="0" algn="l">
              <a:spcBef>
                <a:spcPts val="0"/>
              </a:spcBef>
              <a:spcAft>
                <a:spcPts val="0"/>
              </a:spcAft>
              <a:buClr>
                <a:schemeClr val="dk1"/>
              </a:buClr>
              <a:buSzPts val="1200"/>
              <a:buFont typeface="Arial"/>
              <a:buChar char="•"/>
            </a:pPr>
            <a:r>
              <a:rPr lang="en-US"/>
              <a:t>https://www.ncbi.nlm.nih.gov/pubmed/11544353/</a:t>
            </a:r>
            <a:endParaRPr/>
          </a:p>
          <a:p>
            <a:pPr indent="-171450" lvl="0" marL="171450" rtl="0" algn="l">
              <a:spcBef>
                <a:spcPts val="0"/>
              </a:spcBef>
              <a:spcAft>
                <a:spcPts val="0"/>
              </a:spcAft>
              <a:buClr>
                <a:schemeClr val="dk1"/>
              </a:buClr>
              <a:buSzPts val="1200"/>
              <a:buFont typeface="Arial"/>
              <a:buChar char="•"/>
            </a:pPr>
            <a:r>
              <a:rPr lang="en-US"/>
              <a:t>https://www.ncbi.nlm.nih.gov/pmc/articles/PMC3312703/</a:t>
            </a:r>
            <a:endParaRPr/>
          </a:p>
        </p:txBody>
      </p:sp>
      <p:sp>
        <p:nvSpPr>
          <p:cNvPr id="332" name="Google Shape;332;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1" name="Google Shape;341;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en-US"/>
              <a:t>https://www.ncbi.nlm.nih.gov/pmc/articles/PMC5578138/</a:t>
            </a:r>
            <a:endParaRPr/>
          </a:p>
        </p:txBody>
      </p:sp>
      <p:sp>
        <p:nvSpPr>
          <p:cNvPr id="342" name="Google Shape;342;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9" name="Google Shape;369;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https://jdh.adha.org/content/jdenthyg/81/suppl_1/116.full.pdf</a:t>
            </a:r>
            <a:endParaRPr/>
          </a:p>
        </p:txBody>
      </p:sp>
      <p:sp>
        <p:nvSpPr>
          <p:cNvPr id="370" name="Google Shape;370;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en-US"/>
              <a:t>https://www.reportlinker.com/p05783144/North-America-Restorative-Dentistry-Market-to-Regional-Analysis-and-Forecasts-by-Product-End-User-and-Country.html?utm_source=PRN</a:t>
            </a:r>
            <a:endParaRPr/>
          </a:p>
          <a:p>
            <a:pPr indent="-95250" lvl="0" marL="171450" rtl="0" algn="l">
              <a:spcBef>
                <a:spcPts val="0"/>
              </a:spcBef>
              <a:spcAft>
                <a:spcPts val="0"/>
              </a:spcAft>
              <a:buClr>
                <a:schemeClr val="dk1"/>
              </a:buClr>
              <a:buSzPts val="1200"/>
              <a:buFont typeface="Arial"/>
              <a:buNone/>
            </a:pPr>
            <a:r>
              <a:t/>
            </a:r>
            <a:endParaRPr/>
          </a:p>
        </p:txBody>
      </p:sp>
      <p:sp>
        <p:nvSpPr>
          <p:cNvPr id="379" name="Google Shape;379;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4" name="Google Shape;24;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3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3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3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3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4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40"/>
          <p:cNvSpPr/>
          <p:nvPr>
            <p:ph idx="2" type="pic"/>
          </p:nvPr>
        </p:nvSpPr>
        <p:spPr>
          <a:xfrm>
            <a:off x="5183188" y="987425"/>
            <a:ext cx="6172200" cy="4873625"/>
          </a:xfrm>
          <a:prstGeom prst="rect">
            <a:avLst/>
          </a:prstGeom>
          <a:noFill/>
          <a:ln>
            <a:noFill/>
          </a:ln>
        </p:spPr>
      </p:sp>
      <p:sp>
        <p:nvSpPr>
          <p:cNvPr id="68" name="Google Shape;68;p4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jpg"/><Relationship Id="rId4" Type="http://schemas.openxmlformats.org/officeDocument/2006/relationships/image" Target="../media/image8.jpg"/><Relationship Id="rId5"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jp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en.wikipedia.org/wiki/Streptococcus" TargetMode="External"/><Relationship Id="rId4" Type="http://schemas.openxmlformats.org/officeDocument/2006/relationships/hyperlink" Target="https://en.wikipedia.org/wiki/Eikenella" TargetMode="External"/><Relationship Id="rId11" Type="http://schemas.openxmlformats.org/officeDocument/2006/relationships/hyperlink" Target="https://en.wikipedia.org/wiki/Porphyromonas_gingivalis" TargetMode="External"/><Relationship Id="rId10" Type="http://schemas.openxmlformats.org/officeDocument/2006/relationships/hyperlink" Target="https://en.wikipedia.org/wiki/Treponema" TargetMode="External"/><Relationship Id="rId12" Type="http://schemas.openxmlformats.org/officeDocument/2006/relationships/hyperlink" Target="https://en.wikipedia.org/wiki/Fusobacterium_nucleatum" TargetMode="External"/><Relationship Id="rId9" Type="http://schemas.openxmlformats.org/officeDocument/2006/relationships/hyperlink" Target="https://en.wikipedia.org/wiki/Eubacterium" TargetMode="External"/><Relationship Id="rId5" Type="http://schemas.openxmlformats.org/officeDocument/2006/relationships/hyperlink" Target="https://en.wikipedia.org/wiki/Haemophilus" TargetMode="External"/><Relationship Id="rId6" Type="http://schemas.openxmlformats.org/officeDocument/2006/relationships/hyperlink" Target="https://en.wikipedia.org/wiki/Prevotella" TargetMode="External"/><Relationship Id="rId7" Type="http://schemas.openxmlformats.org/officeDocument/2006/relationships/hyperlink" Target="https://en.wikipedia.org/w/index.php?title=Priopionibacterium&amp;action=edit&amp;redlink=1" TargetMode="External"/><Relationship Id="rId8" Type="http://schemas.openxmlformats.org/officeDocument/2006/relationships/hyperlink" Target="https://en.wikipedia.org/wiki/Capnocytophaga"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descr="A picture containing grass, animal, sitting, coral&#10;&#10;Description automatically generated" id="89" name="Google Shape;89;p1"/>
          <p:cNvPicPr preferRelativeResize="0"/>
          <p:nvPr/>
        </p:nvPicPr>
        <p:blipFill rotWithShape="1">
          <a:blip r:embed="rId3">
            <a:alphaModFix/>
          </a:blip>
          <a:srcRect b="0" l="12687" r="12687" t="0"/>
          <a:stretch/>
        </p:blipFill>
        <p:spPr>
          <a:xfrm rot="-5400000">
            <a:off x="2667000" y="-2667000"/>
            <a:ext cx="6858000" cy="12192000"/>
          </a:xfrm>
          <a:prstGeom prst="rect">
            <a:avLst/>
          </a:prstGeom>
          <a:noFill/>
          <a:ln>
            <a:noFill/>
          </a:ln>
        </p:spPr>
      </p:pic>
      <p:sp>
        <p:nvSpPr>
          <p:cNvPr id="90" name="Google Shape;90;p1"/>
          <p:cNvSpPr txBox="1"/>
          <p:nvPr>
            <p:ph type="ctrTitle"/>
          </p:nvPr>
        </p:nvSpPr>
        <p:spPr>
          <a:xfrm>
            <a:off x="-2" y="1122363"/>
            <a:ext cx="12192002" cy="2387600"/>
          </a:xfrm>
          <a:prstGeom prst="rect">
            <a:avLst/>
          </a:prstGeom>
          <a:solidFill>
            <a:srgbClr val="F2F2F2">
              <a:alpha val="65882"/>
            </a:srgbClr>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latin typeface="Calibri"/>
                <a:ea typeface="Calibri"/>
                <a:cs typeface="Calibri"/>
                <a:sym typeface="Calibri"/>
              </a:rPr>
              <a:t>Dental Market</a:t>
            </a:r>
            <a:endParaRPr/>
          </a:p>
        </p:txBody>
      </p:sp>
      <p:sp>
        <p:nvSpPr>
          <p:cNvPr id="91" name="Google Shape;91;p1"/>
          <p:cNvSpPr txBox="1"/>
          <p:nvPr>
            <p:ph idx="1" type="subTitle"/>
          </p:nvPr>
        </p:nvSpPr>
        <p:spPr>
          <a:xfrm>
            <a:off x="0" y="3949700"/>
            <a:ext cx="12192000" cy="960438"/>
          </a:xfrm>
          <a:prstGeom prst="rect">
            <a:avLst/>
          </a:prstGeom>
          <a:solidFill>
            <a:srgbClr val="F2F2F2">
              <a:alpha val="65882"/>
            </a:srgbClr>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Biofilms</a:t>
            </a:r>
            <a:endParaRPr/>
          </a:p>
        </p:txBody>
      </p:sp>
      <p:sp>
        <p:nvSpPr>
          <p:cNvPr id="92" name="Google Shape;9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4/13/2020</a:t>
            </a:r>
            <a:endParaRPr/>
          </a:p>
        </p:txBody>
      </p:sp>
      <p:sp>
        <p:nvSpPr>
          <p:cNvPr id="93" name="Google Shape;9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confidential</a:t>
            </a:r>
            <a:endParaRPr/>
          </a:p>
        </p:txBody>
      </p:sp>
      <p:sp>
        <p:nvSpPr>
          <p:cNvPr id="94" name="Google Shape;9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lang="en-US"/>
              <a:t>Global oral care market</a:t>
            </a:r>
            <a:endParaRPr/>
          </a:p>
        </p:txBody>
      </p:sp>
      <p:sp>
        <p:nvSpPr>
          <p:cNvPr id="100" name="Google Shape;100;p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88888"/>
              </a:buClr>
              <a:buSzPts val="2400"/>
              <a:buNone/>
            </a:pPr>
            <a:r>
              <a:rPr lang="en-US"/>
              <a:t>Update 22.04.2020</a:t>
            </a:r>
            <a:endParaRPr/>
          </a:p>
        </p:txBody>
      </p:sp>
      <p:sp>
        <p:nvSpPr>
          <p:cNvPr id="101" name="Google Shape;101;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4/13/2020</a:t>
            </a:r>
            <a:endParaRPr/>
          </a:p>
        </p:txBody>
      </p:sp>
      <p:sp>
        <p:nvSpPr>
          <p:cNvPr id="102" name="Google Shape;102;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confidential</a:t>
            </a:r>
            <a:endParaRPr/>
          </a:p>
        </p:txBody>
      </p:sp>
      <p:sp>
        <p:nvSpPr>
          <p:cNvPr id="103" name="Google Shape;103;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descr="A picture containing drawing&#10;&#10;Description automatically generated" id="109" name="Google Shape;109;p3"/>
          <p:cNvPicPr preferRelativeResize="0"/>
          <p:nvPr/>
        </p:nvPicPr>
        <p:blipFill rotWithShape="1">
          <a:blip r:embed="rId3">
            <a:alphaModFix/>
          </a:blip>
          <a:srcRect b="3525" l="4225" r="6131" t="0"/>
          <a:stretch/>
        </p:blipFill>
        <p:spPr>
          <a:xfrm>
            <a:off x="6809491" y="1296527"/>
            <a:ext cx="5006104" cy="2648882"/>
          </a:xfrm>
          <a:prstGeom prst="rect">
            <a:avLst/>
          </a:prstGeom>
          <a:noFill/>
          <a:ln>
            <a:noFill/>
          </a:ln>
        </p:spPr>
      </p:pic>
      <p:sp>
        <p:nvSpPr>
          <p:cNvPr id="110" name="Google Shape;110;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Market size – Cleaning Dental Equipment</a:t>
            </a:r>
            <a:endParaRPr/>
          </a:p>
        </p:txBody>
      </p:sp>
      <p:sp>
        <p:nvSpPr>
          <p:cNvPr id="111" name="Google Shape;111;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4/13/2020</a:t>
            </a:r>
            <a:endParaRPr/>
          </a:p>
        </p:txBody>
      </p:sp>
      <p:sp>
        <p:nvSpPr>
          <p:cNvPr id="112" name="Google Shape;112;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confidential</a:t>
            </a:r>
            <a:endParaRPr/>
          </a:p>
        </p:txBody>
      </p:sp>
      <p:sp>
        <p:nvSpPr>
          <p:cNvPr id="113" name="Google Shape;113;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4" name="Google Shape;114;p3"/>
          <p:cNvSpPr txBox="1"/>
          <p:nvPr>
            <p:ph idx="1" type="body"/>
          </p:nvPr>
        </p:nvSpPr>
        <p:spPr>
          <a:xfrm>
            <a:off x="838200" y="1825624"/>
            <a:ext cx="10515600" cy="4530725"/>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chemeClr val="dk1"/>
              </a:buClr>
              <a:buSzPct val="100000"/>
              <a:buChar char="•"/>
            </a:pPr>
            <a:r>
              <a:rPr lang="en-US"/>
              <a:t>The global dental market is estimated to reach US$40.9 billion in 2025</a:t>
            </a:r>
            <a:endParaRPr/>
          </a:p>
          <a:p>
            <a:pPr indent="-228600" lvl="1" marL="685800" rtl="0" algn="l">
              <a:lnSpc>
                <a:spcPct val="90000"/>
              </a:lnSpc>
              <a:spcBef>
                <a:spcPts val="500"/>
              </a:spcBef>
              <a:spcAft>
                <a:spcPts val="0"/>
              </a:spcAft>
              <a:buClr>
                <a:schemeClr val="dk1"/>
              </a:buClr>
              <a:buSzPct val="100000"/>
              <a:buChar char="•"/>
            </a:pPr>
            <a:r>
              <a:rPr lang="en-US"/>
              <a:t>CAGR of 5.59% (2018 to 2025) </a:t>
            </a:r>
            <a:endParaRPr/>
          </a:p>
          <a:p>
            <a:pPr indent="-228600" lvl="1" marL="685800" rtl="0" algn="l">
              <a:lnSpc>
                <a:spcPct val="90000"/>
              </a:lnSpc>
              <a:spcBef>
                <a:spcPts val="500"/>
              </a:spcBef>
              <a:spcAft>
                <a:spcPts val="0"/>
              </a:spcAft>
              <a:buClr>
                <a:schemeClr val="dk1"/>
              </a:buClr>
              <a:buSzPct val="100000"/>
              <a:buChar char="•"/>
            </a:pPr>
            <a:r>
              <a:rPr lang="en-US"/>
              <a:t>Main growth in the US, due to increased awareness</a:t>
            </a:r>
            <a:endParaRPr/>
          </a:p>
          <a:p>
            <a:pPr indent="-110490" lvl="1" marL="685800" rtl="0" algn="l">
              <a:lnSpc>
                <a:spcPct val="90000"/>
              </a:lnSpc>
              <a:spcBef>
                <a:spcPts val="5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Growth sectors  →</a:t>
            </a:r>
            <a:endParaRPr/>
          </a:p>
          <a:p>
            <a:pPr indent="-228600" lvl="1" marL="685800" rtl="0" algn="l">
              <a:lnSpc>
                <a:spcPct val="90000"/>
              </a:lnSpc>
              <a:spcBef>
                <a:spcPts val="500"/>
              </a:spcBef>
              <a:spcAft>
                <a:spcPts val="0"/>
              </a:spcAft>
              <a:buClr>
                <a:schemeClr val="dk1"/>
              </a:buClr>
              <a:buSzPct val="100000"/>
              <a:buChar char="•"/>
            </a:pPr>
            <a:r>
              <a:rPr lang="en-US"/>
              <a:t>Toothpaste, dominates market, expected to stagnate</a:t>
            </a:r>
            <a:endParaRPr/>
          </a:p>
          <a:p>
            <a:pPr indent="-228600" lvl="1" marL="685800" rtl="0" algn="l">
              <a:lnSpc>
                <a:spcPct val="90000"/>
              </a:lnSpc>
              <a:spcBef>
                <a:spcPts val="500"/>
              </a:spcBef>
              <a:spcAft>
                <a:spcPts val="0"/>
              </a:spcAft>
              <a:buClr>
                <a:schemeClr val="dk1"/>
              </a:buClr>
              <a:buSzPct val="100000"/>
              <a:buChar char="•"/>
            </a:pPr>
            <a:r>
              <a:rPr lang="en-US"/>
              <a:t>Mouthwash: herbal and flavored mouth-	                            			     	      washes expected to grow in demand.  </a:t>
            </a:r>
            <a:endParaRPr/>
          </a:p>
          <a:p>
            <a:pPr indent="-228600" lvl="1" marL="685800" rtl="0" algn="l">
              <a:lnSpc>
                <a:spcPct val="90000"/>
              </a:lnSpc>
              <a:spcBef>
                <a:spcPts val="500"/>
              </a:spcBef>
              <a:spcAft>
                <a:spcPts val="0"/>
              </a:spcAft>
              <a:buClr>
                <a:schemeClr val="dk1"/>
              </a:buClr>
              <a:buSzPct val="100000"/>
              <a:buChar char="•"/>
            </a:pPr>
            <a:r>
              <a:rPr lang="en-US"/>
              <a:t>Increase in occurrence of oral disorders such as periodontitis, gingivitis, tooth decay, denture irritation, bleeding gums, and bad breath is expected to contribute to demand for medicated as well as non-medicated mouthwashes</a:t>
            </a:r>
            <a:endParaRPr/>
          </a:p>
          <a:p>
            <a:pPr indent="-90804"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Key players: Procter &amp; Gamble Company; Johnson &amp; Johnson Consumer, Inc.; Colgate-Palmolive; GlaxoSmithKline; Church &amp; Dwight Co., Inc.; Dr. Fresh, LLC; Dentaid; Lion Corporation; and Sunstar Suisse S.A, Danaher Corporation, Dentsply Sirona Inc., Straumann Holding AG, Zimmer Biomet Holdings Inc.</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4"/>
          <p:cNvSpPr txBox="1"/>
          <p:nvPr>
            <p:ph type="title"/>
          </p:nvPr>
        </p:nvSpPr>
        <p:spPr>
          <a:xfrm>
            <a:off x="838200" y="365125"/>
            <a:ext cx="113538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Oral Care/Oral Hygiene Market by Product</a:t>
            </a:r>
            <a:endParaRPr/>
          </a:p>
        </p:txBody>
      </p:sp>
      <p:sp>
        <p:nvSpPr>
          <p:cNvPr id="121" name="Google Shape;121;p4"/>
          <p:cNvSpPr txBox="1"/>
          <p:nvPr>
            <p:ph idx="1" type="body"/>
          </p:nvPr>
        </p:nvSpPr>
        <p:spPr>
          <a:xfrm>
            <a:off x="838200" y="1825625"/>
            <a:ext cx="10515600" cy="131998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Toothbrush (Manual, Electric, Battery-Powered), Toothpaste, Mouthwash, Dental Floss, Teeth Whitening)</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22" name="Google Shape;122;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4/13/2020</a:t>
            </a:r>
            <a:endParaRPr/>
          </a:p>
        </p:txBody>
      </p:sp>
      <p:sp>
        <p:nvSpPr>
          <p:cNvPr id="123" name="Google Shape;123;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confidential</a:t>
            </a:r>
            <a:endParaRPr/>
          </a:p>
        </p:txBody>
      </p:sp>
      <p:sp>
        <p:nvSpPr>
          <p:cNvPr id="124" name="Google Shape;124;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25" name="Google Shape;125;p4"/>
          <p:cNvPicPr preferRelativeResize="0"/>
          <p:nvPr/>
        </p:nvPicPr>
        <p:blipFill rotWithShape="1">
          <a:blip r:embed="rId3">
            <a:alphaModFix/>
          </a:blip>
          <a:srcRect b="0" l="0" r="0" t="0"/>
          <a:stretch/>
        </p:blipFill>
        <p:spPr>
          <a:xfrm>
            <a:off x="0" y="3154316"/>
            <a:ext cx="6105135" cy="3202034"/>
          </a:xfrm>
          <a:prstGeom prst="rect">
            <a:avLst/>
          </a:prstGeom>
          <a:noFill/>
          <a:ln>
            <a:noFill/>
          </a:ln>
        </p:spPr>
      </p:pic>
      <p:pic>
        <p:nvPicPr>
          <p:cNvPr id="126" name="Google Shape;126;p4"/>
          <p:cNvPicPr preferRelativeResize="0"/>
          <p:nvPr/>
        </p:nvPicPr>
        <p:blipFill rotWithShape="1">
          <a:blip r:embed="rId4">
            <a:alphaModFix/>
          </a:blip>
          <a:srcRect b="0" l="0" r="0" t="0"/>
          <a:stretch/>
        </p:blipFill>
        <p:spPr>
          <a:xfrm>
            <a:off x="6086865" y="3289253"/>
            <a:ext cx="6105135" cy="29234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Market Size – Dentist offices US</a:t>
            </a:r>
            <a:endParaRPr/>
          </a:p>
        </p:txBody>
      </p:sp>
      <p:sp>
        <p:nvSpPr>
          <p:cNvPr id="133" name="Google Shape;133;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199,486 dentists in the US (2018)</a:t>
            </a:r>
            <a:endParaRPr/>
          </a:p>
          <a:p>
            <a:pPr indent="-228600" lvl="0" marL="228600" rtl="0" algn="l">
              <a:lnSpc>
                <a:spcPct val="90000"/>
              </a:lnSpc>
              <a:spcBef>
                <a:spcPts val="1000"/>
              </a:spcBef>
              <a:spcAft>
                <a:spcPts val="0"/>
              </a:spcAft>
              <a:buClr>
                <a:schemeClr val="dk1"/>
              </a:buClr>
              <a:buSzPts val="2800"/>
              <a:buChar char="•"/>
            </a:pPr>
            <a:r>
              <a:rPr lang="en-US"/>
              <a:t>131,118 offices (estimate, ADA)</a:t>
            </a:r>
            <a:endParaRPr/>
          </a:p>
          <a:p>
            <a:pPr indent="-228600" lvl="1" marL="685800" rtl="0" algn="l">
              <a:lnSpc>
                <a:spcPct val="90000"/>
              </a:lnSpc>
              <a:spcBef>
                <a:spcPts val="500"/>
              </a:spcBef>
              <a:spcAft>
                <a:spcPts val="0"/>
              </a:spcAft>
              <a:buClr>
                <a:schemeClr val="dk1"/>
              </a:buClr>
              <a:buSzPts val="2400"/>
              <a:buChar char="•"/>
            </a:pPr>
            <a:r>
              <a:rPr lang="en-US"/>
              <a:t>Stable and low growth rate ~1.2%</a:t>
            </a:r>
            <a:endParaRPr/>
          </a:p>
          <a:p>
            <a:pPr indent="-228600" lvl="1" marL="685800" rtl="0" algn="l">
              <a:lnSpc>
                <a:spcPct val="90000"/>
              </a:lnSpc>
              <a:spcBef>
                <a:spcPts val="500"/>
              </a:spcBef>
              <a:spcAft>
                <a:spcPts val="0"/>
              </a:spcAft>
              <a:buClr>
                <a:schemeClr val="dk1"/>
              </a:buClr>
              <a:buSzPts val="2400"/>
              <a:buChar char="•"/>
            </a:pPr>
            <a:r>
              <a:rPr lang="en-US"/>
              <a:t>Most dental practices are single-unit firms with less than 10 employees</a:t>
            </a:r>
            <a:endParaRPr/>
          </a:p>
          <a:p>
            <a:pPr indent="-76200" lvl="1" marL="685800" rtl="0" algn="l">
              <a:lnSpc>
                <a:spcPct val="90000"/>
              </a:lnSpc>
              <a:spcBef>
                <a:spcPts val="500"/>
              </a:spcBef>
              <a:spcAft>
                <a:spcPts val="0"/>
              </a:spcAft>
              <a:buClr>
                <a:schemeClr val="dk1"/>
              </a:buClr>
              <a:buSzPts val="2400"/>
              <a:buNone/>
            </a:pPr>
            <a:r>
              <a:t/>
            </a:r>
            <a:endParaRPr/>
          </a:p>
          <a:p>
            <a:pPr indent="-228600" lvl="0" marL="228600" rtl="0" algn="l">
              <a:lnSpc>
                <a:spcPct val="90000"/>
              </a:lnSpc>
              <a:spcBef>
                <a:spcPts val="1000"/>
              </a:spcBef>
              <a:spcAft>
                <a:spcPts val="0"/>
              </a:spcAft>
              <a:buClr>
                <a:schemeClr val="dk1"/>
              </a:buClr>
              <a:buSzPts val="2800"/>
              <a:buChar char="•"/>
            </a:pPr>
            <a:r>
              <a:rPr lang="en-US"/>
              <a:t>22.3 million endodontic procedures were performed annually:</a:t>
            </a:r>
            <a:endParaRPr/>
          </a:p>
          <a:p>
            <a:pPr indent="-228600" lvl="1" marL="685800" rtl="0" algn="l">
              <a:lnSpc>
                <a:spcPct val="90000"/>
              </a:lnSpc>
              <a:spcBef>
                <a:spcPts val="500"/>
              </a:spcBef>
              <a:spcAft>
                <a:spcPts val="0"/>
              </a:spcAft>
              <a:buClr>
                <a:schemeClr val="dk1"/>
              </a:buClr>
              <a:buSzPts val="2400"/>
              <a:buChar char="•"/>
            </a:pPr>
            <a:r>
              <a:rPr lang="en-US"/>
              <a:t>15.2 million/68% were performed by general dentists</a:t>
            </a:r>
            <a:endParaRPr/>
          </a:p>
          <a:p>
            <a:pPr indent="-228600" lvl="1" marL="685800" rtl="0" algn="l">
              <a:lnSpc>
                <a:spcPct val="90000"/>
              </a:lnSpc>
              <a:spcBef>
                <a:spcPts val="500"/>
              </a:spcBef>
              <a:spcAft>
                <a:spcPts val="0"/>
              </a:spcAft>
              <a:buClr>
                <a:schemeClr val="dk1"/>
              </a:buClr>
              <a:buSzPts val="2400"/>
              <a:buChar char="•"/>
            </a:pPr>
            <a:r>
              <a:rPr lang="en-US"/>
              <a:t>5.7 million/26% were performed by endodontists</a:t>
            </a:r>
            <a:endParaRPr/>
          </a:p>
          <a:p>
            <a:pPr indent="-228600" lvl="1" marL="685800" rtl="0" algn="l">
              <a:lnSpc>
                <a:spcPct val="90000"/>
              </a:lnSpc>
              <a:spcBef>
                <a:spcPts val="500"/>
              </a:spcBef>
              <a:spcAft>
                <a:spcPts val="0"/>
              </a:spcAft>
              <a:buClr>
                <a:schemeClr val="dk1"/>
              </a:buClr>
              <a:buSzPts val="2400"/>
              <a:buChar char="•"/>
            </a:pPr>
            <a:r>
              <a:rPr lang="en-US"/>
              <a:t>The remainder were performed by other dental specialists</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34" name="Google Shape;134;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4/13/2020</a:t>
            </a:r>
            <a:endParaRPr/>
          </a:p>
        </p:txBody>
      </p:sp>
      <p:sp>
        <p:nvSpPr>
          <p:cNvPr id="135" name="Google Shape;135;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confidential</a:t>
            </a:r>
            <a:endParaRPr/>
          </a:p>
        </p:txBody>
      </p:sp>
      <p:sp>
        <p:nvSpPr>
          <p:cNvPr id="136" name="Google Shape;136;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7" name="Google Shape;137;p5"/>
          <p:cNvSpPr/>
          <p:nvPr/>
        </p:nvSpPr>
        <p:spPr>
          <a:xfrm>
            <a:off x="8773683" y="6492875"/>
            <a:ext cx="34664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American Dental Association (ADA)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lang="en-US"/>
              <a:t>Waterlines of Dental Units</a:t>
            </a:r>
            <a:endParaRPr/>
          </a:p>
        </p:txBody>
      </p:sp>
      <p:sp>
        <p:nvSpPr>
          <p:cNvPr id="143" name="Google Shape;143;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88888"/>
              </a:buClr>
              <a:buSzPts val="2400"/>
              <a:buNone/>
            </a:pPr>
            <a:r>
              <a:t/>
            </a:r>
            <a:endParaRPr/>
          </a:p>
        </p:txBody>
      </p:sp>
      <p:sp>
        <p:nvSpPr>
          <p:cNvPr id="144" name="Google Shape;144;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4/13/2020</a:t>
            </a:r>
            <a:endParaRPr/>
          </a:p>
        </p:txBody>
      </p:sp>
      <p:sp>
        <p:nvSpPr>
          <p:cNvPr id="145" name="Google Shape;145;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confidential</a:t>
            </a:r>
            <a:endParaRPr/>
          </a:p>
        </p:txBody>
      </p:sp>
      <p:sp>
        <p:nvSpPr>
          <p:cNvPr id="146" name="Google Shape;146;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Microflora in Waterlines of Dental Units</a:t>
            </a:r>
            <a:endParaRPr/>
          </a:p>
        </p:txBody>
      </p:sp>
      <p:sp>
        <p:nvSpPr>
          <p:cNvPr id="153" name="Google Shape;153;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chemeClr val="dk1"/>
              </a:buClr>
              <a:buSzPct val="100000"/>
              <a:buChar char="•"/>
            </a:pPr>
            <a:r>
              <a:rPr lang="en-US"/>
              <a:t>Water conditions allow to grow over periods of down time, e.g. weekends</a:t>
            </a:r>
            <a:endParaRPr/>
          </a:p>
          <a:p>
            <a:pPr indent="-228600" lvl="0" marL="228600" rtl="0" algn="l">
              <a:lnSpc>
                <a:spcPct val="90000"/>
              </a:lnSpc>
              <a:spcBef>
                <a:spcPts val="1000"/>
              </a:spcBef>
              <a:spcAft>
                <a:spcPts val="0"/>
              </a:spcAft>
              <a:buClr>
                <a:schemeClr val="dk1"/>
              </a:buClr>
              <a:buSzPct val="100000"/>
              <a:buChar char="•"/>
            </a:pPr>
            <a:r>
              <a:rPr lang="en-US"/>
              <a:t>Dental water needs to meet CDC/EPA drinking water quality standard</a:t>
            </a:r>
            <a:endParaRPr/>
          </a:p>
          <a:p>
            <a:pPr indent="-228600" lvl="1" marL="685800" rtl="0" algn="l">
              <a:lnSpc>
                <a:spcPct val="90000"/>
              </a:lnSpc>
              <a:spcBef>
                <a:spcPts val="500"/>
              </a:spcBef>
              <a:spcAft>
                <a:spcPts val="0"/>
              </a:spcAft>
              <a:buClr>
                <a:schemeClr val="dk1"/>
              </a:buClr>
              <a:buSzPct val="100000"/>
              <a:buChar char="•"/>
            </a:pPr>
            <a:r>
              <a:rPr lang="en-US"/>
              <a:t>Bacteria level ≤500 CFU/mL</a:t>
            </a:r>
            <a:endParaRPr/>
          </a:p>
          <a:p>
            <a:pPr indent="-228600" lvl="0" marL="228600" rtl="0" algn="l">
              <a:lnSpc>
                <a:spcPct val="90000"/>
              </a:lnSpc>
              <a:spcBef>
                <a:spcPts val="1000"/>
              </a:spcBef>
              <a:spcAft>
                <a:spcPts val="0"/>
              </a:spcAft>
              <a:buClr>
                <a:schemeClr val="dk1"/>
              </a:buClr>
              <a:buSzPct val="100000"/>
              <a:buChar char="•"/>
            </a:pPr>
            <a:r>
              <a:rPr lang="en-US"/>
              <a:t>Diverse microflora of bacteria, yeasts, fungi, viruses, protozoa, unicellular algae and nematodes</a:t>
            </a:r>
            <a:endParaRPr/>
          </a:p>
          <a:p>
            <a:pPr indent="-228600" lvl="1" marL="685800" rtl="0" algn="l">
              <a:lnSpc>
                <a:spcPct val="90000"/>
              </a:lnSpc>
              <a:spcBef>
                <a:spcPts val="500"/>
              </a:spcBef>
              <a:spcAft>
                <a:spcPts val="0"/>
              </a:spcAft>
              <a:buClr>
                <a:schemeClr val="dk1"/>
              </a:buClr>
              <a:buSzPct val="100000"/>
              <a:buChar char="•"/>
            </a:pPr>
            <a:r>
              <a:rPr lang="en-US"/>
              <a:t>Found in waterlines, high-speed drills, air/water syringes, ultrasonic scalers</a:t>
            </a:r>
            <a:endParaRPr/>
          </a:p>
          <a:p>
            <a:pPr indent="-228600" lvl="0" marL="228600" rtl="0" algn="l">
              <a:lnSpc>
                <a:spcPct val="90000"/>
              </a:lnSpc>
              <a:spcBef>
                <a:spcPts val="1000"/>
              </a:spcBef>
              <a:spcAft>
                <a:spcPts val="0"/>
              </a:spcAft>
              <a:buClr>
                <a:schemeClr val="dk1"/>
              </a:buClr>
              <a:buSzPct val="100000"/>
              <a:buChar char="•"/>
            </a:pPr>
            <a:r>
              <a:rPr lang="en-US"/>
              <a:t>Organisms, isolated from dental unit waterlines</a:t>
            </a:r>
            <a:endParaRPr/>
          </a:p>
          <a:p>
            <a:pPr indent="-228600" lvl="1" marL="685800" rtl="0" algn="l">
              <a:lnSpc>
                <a:spcPct val="90000"/>
              </a:lnSpc>
              <a:spcBef>
                <a:spcPts val="500"/>
              </a:spcBef>
              <a:spcAft>
                <a:spcPts val="0"/>
              </a:spcAft>
              <a:buClr>
                <a:schemeClr val="dk1"/>
              </a:buClr>
              <a:buSzPct val="100000"/>
              <a:buChar char="•"/>
            </a:pPr>
            <a:r>
              <a:rPr i="1" lang="en-US"/>
              <a:t>P. aeruginosa</a:t>
            </a:r>
            <a:r>
              <a:rPr lang="en-US"/>
              <a:t> may be isolated from 15% to 24% of samples; 2 x 10</a:t>
            </a:r>
            <a:r>
              <a:rPr baseline="30000" lang="en-US"/>
              <a:t>5</a:t>
            </a:r>
            <a:r>
              <a:rPr lang="en-US"/>
              <a:t> CFU/mL</a:t>
            </a:r>
            <a:endParaRPr/>
          </a:p>
          <a:p>
            <a:pPr indent="-228600" lvl="1" marL="685800" rtl="0" algn="l">
              <a:lnSpc>
                <a:spcPct val="90000"/>
              </a:lnSpc>
              <a:spcBef>
                <a:spcPts val="500"/>
              </a:spcBef>
              <a:spcAft>
                <a:spcPts val="0"/>
              </a:spcAft>
              <a:buClr>
                <a:schemeClr val="dk1"/>
              </a:buClr>
              <a:buSzPct val="100000"/>
              <a:buChar char="•"/>
            </a:pPr>
            <a:r>
              <a:rPr i="1" lang="en-US"/>
              <a:t>Legionella </a:t>
            </a:r>
            <a:r>
              <a:rPr lang="en-US"/>
              <a:t>spp</a:t>
            </a:r>
            <a:r>
              <a:rPr i="1" lang="en-US"/>
              <a:t>. </a:t>
            </a:r>
            <a:r>
              <a:rPr lang="en-US"/>
              <a:t>are regularly isolated from; 10</a:t>
            </a:r>
            <a:r>
              <a:rPr baseline="30000" lang="en-US"/>
              <a:t>2</a:t>
            </a:r>
            <a:r>
              <a:rPr lang="en-US"/>
              <a:t> to 10</a:t>
            </a:r>
            <a:r>
              <a:rPr baseline="30000" lang="en-US"/>
              <a:t>4</a:t>
            </a:r>
            <a:r>
              <a:rPr lang="en-US"/>
              <a:t> CFU/mL</a:t>
            </a:r>
            <a:endParaRPr/>
          </a:p>
          <a:p>
            <a:pPr indent="-228600" lvl="1" marL="685800" rtl="0" algn="l">
              <a:lnSpc>
                <a:spcPct val="90000"/>
              </a:lnSpc>
              <a:spcBef>
                <a:spcPts val="500"/>
              </a:spcBef>
              <a:spcAft>
                <a:spcPts val="0"/>
              </a:spcAft>
              <a:buClr>
                <a:schemeClr val="dk1"/>
              </a:buClr>
              <a:buSzPct val="100000"/>
              <a:buChar char="•"/>
            </a:pPr>
            <a:r>
              <a:rPr lang="en-US"/>
              <a:t>free-living amoebae, a host </a:t>
            </a:r>
            <a:r>
              <a:rPr i="1" lang="en-US"/>
              <a:t>for L. pneumophila </a:t>
            </a:r>
            <a:r>
              <a:rPr lang="en-US"/>
              <a:t>and</a:t>
            </a:r>
            <a:r>
              <a:rPr i="1" lang="en-US"/>
              <a:t> P. aeruginosa</a:t>
            </a:r>
            <a:endParaRPr/>
          </a:p>
          <a:p>
            <a:pPr indent="-228600" lvl="1" marL="685800" rtl="0" algn="l">
              <a:lnSpc>
                <a:spcPct val="90000"/>
              </a:lnSpc>
              <a:spcBef>
                <a:spcPts val="500"/>
              </a:spcBef>
              <a:spcAft>
                <a:spcPts val="0"/>
              </a:spcAft>
              <a:buClr>
                <a:schemeClr val="dk1"/>
              </a:buClr>
              <a:buSzPct val="100000"/>
              <a:buChar char="•"/>
            </a:pPr>
            <a:r>
              <a:rPr i="1" lang="en-US"/>
              <a:t>Candida</a:t>
            </a:r>
            <a:r>
              <a:rPr lang="en-US"/>
              <a:t> spp., </a:t>
            </a:r>
            <a:r>
              <a:rPr i="1" lang="en-US"/>
              <a:t>Pseudomonas</a:t>
            </a:r>
            <a:r>
              <a:rPr lang="en-US"/>
              <a:t> spp, streptococci, </a:t>
            </a:r>
            <a:r>
              <a:rPr i="1" lang="en-US"/>
              <a:t>Fusobacterium</a:t>
            </a:r>
            <a:r>
              <a:rPr lang="en-US"/>
              <a:t> spp</a:t>
            </a:r>
            <a:endParaRPr/>
          </a:p>
          <a:p>
            <a:pPr indent="-228600" lvl="0" marL="228600" rtl="0" algn="l">
              <a:lnSpc>
                <a:spcPct val="90000"/>
              </a:lnSpc>
              <a:spcBef>
                <a:spcPts val="1000"/>
              </a:spcBef>
              <a:spcAft>
                <a:spcPts val="0"/>
              </a:spcAft>
              <a:buClr>
                <a:schemeClr val="dk1"/>
              </a:buClr>
              <a:buSzPct val="100000"/>
              <a:buChar char="•"/>
            </a:pPr>
            <a:r>
              <a:rPr lang="en-US"/>
              <a:t>Biofilms concorded to be a host for nontuberculous mycobacteria</a:t>
            </a:r>
            <a:endParaRPr/>
          </a:p>
          <a:p>
            <a:pPr indent="-228600" lvl="1" marL="685800" rtl="0" algn="l">
              <a:lnSpc>
                <a:spcPct val="90000"/>
              </a:lnSpc>
              <a:spcBef>
                <a:spcPts val="500"/>
              </a:spcBef>
              <a:spcAft>
                <a:spcPts val="0"/>
              </a:spcAft>
              <a:buClr>
                <a:schemeClr val="dk1"/>
              </a:buClr>
              <a:buSzPct val="100000"/>
              <a:buChar char="•"/>
            </a:pPr>
            <a:r>
              <a:rPr i="1" lang="en-US"/>
              <a:t>Mycobacterium gordonae </a:t>
            </a:r>
            <a:r>
              <a:rPr lang="en-US"/>
              <a:t>and </a:t>
            </a:r>
            <a:r>
              <a:rPr i="1" lang="en-US"/>
              <a:t>Mycobacterium chelonae</a:t>
            </a:r>
            <a:endParaRPr i="1"/>
          </a:p>
          <a:p>
            <a:pPr indent="-228600" lvl="1" marL="685800" rtl="0" algn="l">
              <a:lnSpc>
                <a:spcPct val="90000"/>
              </a:lnSpc>
              <a:spcBef>
                <a:spcPts val="500"/>
              </a:spcBef>
              <a:spcAft>
                <a:spcPts val="0"/>
              </a:spcAft>
              <a:buClr>
                <a:schemeClr val="dk1"/>
              </a:buClr>
              <a:buSzPct val="100000"/>
              <a:buChar char="•"/>
            </a:pPr>
            <a:r>
              <a:rPr lang="en-US"/>
              <a:t>up to 400x higher than tap water concentrations </a:t>
            </a:r>
            <a:endParaRPr/>
          </a:p>
        </p:txBody>
      </p:sp>
      <p:sp>
        <p:nvSpPr>
          <p:cNvPr id="154" name="Google Shape;154;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4/13/2020</a:t>
            </a:r>
            <a:endParaRPr/>
          </a:p>
        </p:txBody>
      </p:sp>
      <p:sp>
        <p:nvSpPr>
          <p:cNvPr id="155" name="Google Shape;155;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confidential</a:t>
            </a:r>
            <a:endParaRPr/>
          </a:p>
        </p:txBody>
      </p:sp>
      <p:sp>
        <p:nvSpPr>
          <p:cNvPr id="156" name="Google Shape;156;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7" name="Google Shape;157;p7"/>
          <p:cNvSpPr/>
          <p:nvPr/>
        </p:nvSpPr>
        <p:spPr>
          <a:xfrm>
            <a:off x="9641173" y="6492875"/>
            <a:ext cx="255082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Calibri"/>
                <a:ea typeface="Calibri"/>
                <a:cs typeface="Calibri"/>
                <a:sym typeface="Calibri"/>
              </a:rPr>
              <a:t>CFU colony-forming units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descr="Image result for dental waterline treatment" id="163" name="Google Shape;163;p8"/>
          <p:cNvPicPr preferRelativeResize="0"/>
          <p:nvPr/>
        </p:nvPicPr>
        <p:blipFill rotWithShape="1">
          <a:blip r:embed="rId3">
            <a:alphaModFix/>
          </a:blip>
          <a:srcRect b="27256" l="0" r="0" t="25874"/>
          <a:stretch/>
        </p:blipFill>
        <p:spPr>
          <a:xfrm>
            <a:off x="9803589" y="988434"/>
            <a:ext cx="2187869" cy="1025426"/>
          </a:xfrm>
          <a:prstGeom prst="rect">
            <a:avLst/>
          </a:prstGeom>
          <a:noFill/>
          <a:ln>
            <a:noFill/>
          </a:ln>
        </p:spPr>
      </p:pic>
      <p:sp>
        <p:nvSpPr>
          <p:cNvPr id="164" name="Google Shape;164;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Microflora : Risk to Personnel and Patient</a:t>
            </a:r>
            <a:endParaRPr/>
          </a:p>
        </p:txBody>
      </p:sp>
      <p:sp>
        <p:nvSpPr>
          <p:cNvPr id="165" name="Google Shape;165;p8"/>
          <p:cNvSpPr txBox="1"/>
          <p:nvPr>
            <p:ph idx="1" type="body"/>
          </p:nvPr>
        </p:nvSpPr>
        <p:spPr>
          <a:xfrm>
            <a:off x="838200" y="1825625"/>
            <a:ext cx="10515600" cy="4613078"/>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chemeClr val="dk1"/>
              </a:buClr>
              <a:buSzPct val="100000"/>
              <a:buChar char="•"/>
            </a:pPr>
            <a:r>
              <a:rPr lang="en-US"/>
              <a:t>Microflora and biofilms present in dental waterlines</a:t>
            </a:r>
            <a:endParaRPr/>
          </a:p>
          <a:p>
            <a:pPr indent="-228600" lvl="1" marL="685800" rtl="0" algn="l">
              <a:lnSpc>
                <a:spcPct val="90000"/>
              </a:lnSpc>
              <a:spcBef>
                <a:spcPts val="500"/>
              </a:spcBef>
              <a:spcAft>
                <a:spcPts val="0"/>
              </a:spcAft>
              <a:buClr>
                <a:schemeClr val="dk1"/>
              </a:buClr>
              <a:buSzPct val="100000"/>
              <a:buChar char="•"/>
            </a:pPr>
            <a:r>
              <a:rPr lang="en-US"/>
              <a:t>despite decontamination procedures (chlorine tablets, silver ions, iodine releasing filters, UV)</a:t>
            </a:r>
            <a:endParaRPr/>
          </a:p>
          <a:p>
            <a:pPr indent="-228600" lvl="1" marL="685800" rtl="0" algn="l">
              <a:lnSpc>
                <a:spcPct val="90000"/>
              </a:lnSpc>
              <a:spcBef>
                <a:spcPts val="500"/>
              </a:spcBef>
              <a:spcAft>
                <a:spcPts val="0"/>
              </a:spcAft>
              <a:buClr>
                <a:schemeClr val="dk1"/>
              </a:buClr>
              <a:buSzPct val="100000"/>
              <a:buChar char="•"/>
            </a:pPr>
            <a:r>
              <a:rPr lang="en-US"/>
              <a:t>Sterile or pure water doesn’t prevent biofilm formation</a:t>
            </a:r>
            <a:endParaRPr/>
          </a:p>
          <a:p>
            <a:pPr indent="-228600" lvl="1" marL="685800" rtl="0" algn="l">
              <a:lnSpc>
                <a:spcPct val="90000"/>
              </a:lnSpc>
              <a:spcBef>
                <a:spcPts val="500"/>
              </a:spcBef>
              <a:spcAft>
                <a:spcPts val="0"/>
              </a:spcAft>
              <a:buClr>
                <a:schemeClr val="dk1"/>
              </a:buClr>
              <a:buSzPct val="100000"/>
              <a:buChar char="•"/>
            </a:pPr>
            <a:r>
              <a:rPr lang="en-US"/>
              <a:t>Treatment options vary in effectiveness and costs</a:t>
            </a:r>
            <a:endParaRPr/>
          </a:p>
          <a:p>
            <a:pPr indent="-110490" lvl="1" marL="685800" rtl="0" algn="l">
              <a:lnSpc>
                <a:spcPct val="90000"/>
              </a:lnSpc>
              <a:spcBef>
                <a:spcPts val="5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Route of infection </a:t>
            </a:r>
            <a:endParaRPr/>
          </a:p>
          <a:p>
            <a:pPr indent="-228600" lvl="1" marL="685800" rtl="0" algn="l">
              <a:lnSpc>
                <a:spcPct val="90000"/>
              </a:lnSpc>
              <a:spcBef>
                <a:spcPts val="500"/>
              </a:spcBef>
              <a:spcAft>
                <a:spcPts val="0"/>
              </a:spcAft>
              <a:buClr>
                <a:schemeClr val="dk1"/>
              </a:buClr>
              <a:buSzPct val="100000"/>
              <a:buChar char="•"/>
            </a:pPr>
            <a:r>
              <a:rPr lang="en-US"/>
              <a:t>hematogenous spread during surgical procedures</a:t>
            </a:r>
            <a:endParaRPr/>
          </a:p>
          <a:p>
            <a:pPr indent="-228600" lvl="1" marL="685800" rtl="0" algn="l">
              <a:lnSpc>
                <a:spcPct val="90000"/>
              </a:lnSpc>
              <a:spcBef>
                <a:spcPts val="500"/>
              </a:spcBef>
              <a:spcAft>
                <a:spcPts val="0"/>
              </a:spcAft>
              <a:buClr>
                <a:schemeClr val="dk1"/>
              </a:buClr>
              <a:buSzPct val="100000"/>
              <a:buChar char="•"/>
            </a:pPr>
            <a:r>
              <a:rPr lang="en-US"/>
              <a:t>local mucosal (oral or conjunctival) contact</a:t>
            </a:r>
            <a:endParaRPr/>
          </a:p>
          <a:p>
            <a:pPr indent="-228600" lvl="1" marL="685800" rtl="0" algn="l">
              <a:lnSpc>
                <a:spcPct val="90000"/>
              </a:lnSpc>
              <a:spcBef>
                <a:spcPts val="500"/>
              </a:spcBef>
              <a:spcAft>
                <a:spcPts val="0"/>
              </a:spcAft>
              <a:buClr>
                <a:schemeClr val="dk1"/>
              </a:buClr>
              <a:buSzPct val="100000"/>
              <a:buChar char="•"/>
            </a:pPr>
            <a:r>
              <a:rPr lang="en-US"/>
              <a:t>ingestion </a:t>
            </a:r>
            <a:endParaRPr/>
          </a:p>
          <a:p>
            <a:pPr indent="-228600" lvl="1" marL="685800" rtl="0" algn="l">
              <a:lnSpc>
                <a:spcPct val="90000"/>
              </a:lnSpc>
              <a:spcBef>
                <a:spcPts val="500"/>
              </a:spcBef>
              <a:spcAft>
                <a:spcPts val="0"/>
              </a:spcAft>
              <a:buClr>
                <a:schemeClr val="dk1"/>
              </a:buClr>
              <a:buSzPct val="100000"/>
              <a:buChar char="•"/>
            </a:pPr>
            <a:r>
              <a:rPr lang="en-US"/>
              <a:t>Inhalation (</a:t>
            </a:r>
            <a:r>
              <a:rPr i="1" lang="en-US"/>
              <a:t>Legionella pneumophila, Pseudomonas</a:t>
            </a:r>
            <a:r>
              <a:rPr lang="en-US"/>
              <a:t> spp)</a:t>
            </a:r>
            <a:endParaRPr/>
          </a:p>
          <a:p>
            <a:pPr indent="-110490" lvl="1" marL="685800" rtl="0" algn="l">
              <a:lnSpc>
                <a:spcPct val="90000"/>
              </a:lnSpc>
              <a:spcBef>
                <a:spcPts val="5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Health risk to immunosuppressed, elderly and chronically ill patients</a:t>
            </a:r>
            <a:endParaRPr/>
          </a:p>
          <a:p>
            <a:pPr indent="-228600" lvl="0" marL="228600" rtl="0" algn="l">
              <a:lnSpc>
                <a:spcPct val="90000"/>
              </a:lnSpc>
              <a:spcBef>
                <a:spcPts val="1000"/>
              </a:spcBef>
              <a:spcAft>
                <a:spcPts val="0"/>
              </a:spcAft>
              <a:buClr>
                <a:schemeClr val="dk1"/>
              </a:buClr>
              <a:buSzPct val="100000"/>
              <a:buChar char="•"/>
            </a:pPr>
            <a:r>
              <a:rPr lang="en-US"/>
              <a:t>Nasal flora of dentists may have a higher proportion of waterborne </a:t>
            </a:r>
            <a:r>
              <a:rPr i="1" lang="en-US"/>
              <a:t>Pseudomonas</a:t>
            </a:r>
            <a:r>
              <a:rPr lang="en-US"/>
              <a:t> spp.</a:t>
            </a:r>
            <a:endParaRPr/>
          </a:p>
          <a:p>
            <a:pPr indent="-228600" lvl="0" marL="228600" rtl="0" algn="l">
              <a:lnSpc>
                <a:spcPct val="90000"/>
              </a:lnSpc>
              <a:spcBef>
                <a:spcPts val="1000"/>
              </a:spcBef>
              <a:spcAft>
                <a:spcPts val="0"/>
              </a:spcAft>
              <a:buClr>
                <a:schemeClr val="dk1"/>
              </a:buClr>
              <a:buSzPct val="100000"/>
              <a:buChar char="•"/>
            </a:pPr>
            <a:r>
              <a:rPr lang="en-US"/>
              <a:t>Eventually eye infection with </a:t>
            </a:r>
            <a:r>
              <a:rPr i="1" lang="en-US"/>
              <a:t>Acanthamoeba </a:t>
            </a:r>
            <a:r>
              <a:rPr lang="en-US"/>
              <a:t>spp</a:t>
            </a:r>
            <a:endParaRPr/>
          </a:p>
          <a:p>
            <a:pPr indent="-90804" lvl="0" marL="228600" rtl="0" algn="l">
              <a:lnSpc>
                <a:spcPct val="90000"/>
              </a:lnSpc>
              <a:spcBef>
                <a:spcPts val="1000"/>
              </a:spcBef>
              <a:spcAft>
                <a:spcPts val="0"/>
              </a:spcAft>
              <a:buClr>
                <a:schemeClr val="dk1"/>
              </a:buClr>
              <a:buSzPct val="100000"/>
              <a:buNone/>
            </a:pPr>
            <a:r>
              <a:t/>
            </a:r>
            <a:endParaRPr/>
          </a:p>
          <a:p>
            <a:pPr indent="-90804" lvl="0" marL="228600" rtl="0" algn="l">
              <a:lnSpc>
                <a:spcPct val="90000"/>
              </a:lnSpc>
              <a:spcBef>
                <a:spcPts val="1000"/>
              </a:spcBef>
              <a:spcAft>
                <a:spcPts val="0"/>
              </a:spcAft>
              <a:buClr>
                <a:schemeClr val="dk1"/>
              </a:buClr>
              <a:buSzPct val="100000"/>
              <a:buNone/>
            </a:pPr>
            <a:r>
              <a:t/>
            </a:r>
            <a:endParaRPr/>
          </a:p>
        </p:txBody>
      </p:sp>
      <p:sp>
        <p:nvSpPr>
          <p:cNvPr id="166" name="Google Shape;166;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4/13/2020</a:t>
            </a:r>
            <a:endParaRPr/>
          </a:p>
        </p:txBody>
      </p:sp>
      <p:sp>
        <p:nvSpPr>
          <p:cNvPr id="167" name="Google Shape;167;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confidential</a:t>
            </a:r>
            <a:endParaRPr/>
          </a:p>
        </p:txBody>
      </p:sp>
      <p:sp>
        <p:nvSpPr>
          <p:cNvPr id="168" name="Google Shape;168;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Image result for dental waterline treatment" id="169" name="Google Shape;169;p8"/>
          <p:cNvPicPr preferRelativeResize="0"/>
          <p:nvPr/>
        </p:nvPicPr>
        <p:blipFill rotWithShape="1">
          <a:blip r:embed="rId4">
            <a:alphaModFix/>
          </a:blip>
          <a:srcRect b="0" l="0" r="0" t="0"/>
          <a:stretch/>
        </p:blipFill>
        <p:spPr>
          <a:xfrm>
            <a:off x="9938931" y="2530165"/>
            <a:ext cx="1803476" cy="1638615"/>
          </a:xfrm>
          <a:prstGeom prst="rect">
            <a:avLst/>
          </a:prstGeom>
          <a:noFill/>
          <a:ln>
            <a:noFill/>
          </a:ln>
        </p:spPr>
      </p:pic>
      <p:pic>
        <p:nvPicPr>
          <p:cNvPr descr="Image result for dental waterline treatment" id="170" name="Google Shape;170;p8"/>
          <p:cNvPicPr preferRelativeResize="0"/>
          <p:nvPr/>
        </p:nvPicPr>
        <p:blipFill rotWithShape="1">
          <a:blip r:embed="rId5">
            <a:alphaModFix/>
          </a:blip>
          <a:srcRect b="0" l="0" r="0" t="0"/>
          <a:stretch/>
        </p:blipFill>
        <p:spPr>
          <a:xfrm>
            <a:off x="9746735" y="4175965"/>
            <a:ext cx="2187869" cy="218786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lang="en-US"/>
              <a:t>Dental and Periodontal diseases</a:t>
            </a:r>
            <a:endParaRPr/>
          </a:p>
        </p:txBody>
      </p:sp>
      <p:sp>
        <p:nvSpPr>
          <p:cNvPr id="176" name="Google Shape;176;p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88888"/>
              </a:buClr>
              <a:buSzPts val="2400"/>
              <a:buNone/>
            </a:pPr>
            <a:r>
              <a:t/>
            </a:r>
            <a:endParaRPr/>
          </a:p>
        </p:txBody>
      </p:sp>
      <p:sp>
        <p:nvSpPr>
          <p:cNvPr id="177" name="Google Shape;177;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4/13/2020</a:t>
            </a:r>
            <a:endParaRPr/>
          </a:p>
        </p:txBody>
      </p:sp>
      <p:sp>
        <p:nvSpPr>
          <p:cNvPr id="178" name="Google Shape;178;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confidential</a:t>
            </a:r>
            <a:endParaRPr/>
          </a:p>
        </p:txBody>
      </p:sp>
      <p:sp>
        <p:nvSpPr>
          <p:cNvPr id="179" name="Google Shape;179;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Oral Biofilms - Locations</a:t>
            </a:r>
            <a:endParaRPr/>
          </a:p>
        </p:txBody>
      </p:sp>
      <p:sp>
        <p:nvSpPr>
          <p:cNvPr id="186" name="Google Shape;186;p10"/>
          <p:cNvSpPr txBox="1"/>
          <p:nvPr>
            <p:ph idx="1" type="body"/>
          </p:nvPr>
        </p:nvSpPr>
        <p:spPr>
          <a:xfrm>
            <a:off x="838200" y="1825625"/>
            <a:ext cx="11255326"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Dental Plaque</a:t>
            </a:r>
            <a:endParaRPr/>
          </a:p>
          <a:p>
            <a:pPr indent="-228600" lvl="0" marL="228600" rtl="0" algn="l">
              <a:lnSpc>
                <a:spcPct val="90000"/>
              </a:lnSpc>
              <a:spcBef>
                <a:spcPts val="1000"/>
              </a:spcBef>
              <a:spcAft>
                <a:spcPts val="0"/>
              </a:spcAft>
              <a:buClr>
                <a:schemeClr val="dk1"/>
              </a:buClr>
              <a:buSzPct val="100000"/>
              <a:buChar char="•"/>
            </a:pPr>
            <a:r>
              <a:rPr lang="en-US"/>
              <a:t>Denture / Bridges</a:t>
            </a:r>
            <a:endParaRPr/>
          </a:p>
          <a:p>
            <a:pPr indent="-228600" lvl="1" marL="685800" rtl="0" algn="l">
              <a:lnSpc>
                <a:spcPct val="90000"/>
              </a:lnSpc>
              <a:spcBef>
                <a:spcPts val="500"/>
              </a:spcBef>
              <a:spcAft>
                <a:spcPts val="0"/>
              </a:spcAft>
              <a:buClr>
                <a:schemeClr val="dk1"/>
              </a:buClr>
              <a:buSzPct val="100000"/>
              <a:buChar char="•"/>
            </a:pPr>
            <a:r>
              <a:rPr lang="en-US"/>
              <a:t>Denture stomatitis</a:t>
            </a:r>
            <a:endParaRPr/>
          </a:p>
          <a:p>
            <a:pPr indent="-228600" lvl="1" marL="685800" rtl="0" algn="l">
              <a:lnSpc>
                <a:spcPct val="90000"/>
              </a:lnSpc>
              <a:spcBef>
                <a:spcPts val="500"/>
              </a:spcBef>
              <a:spcAft>
                <a:spcPts val="0"/>
              </a:spcAft>
              <a:buClr>
                <a:schemeClr val="dk1"/>
              </a:buClr>
              <a:buSzPct val="100000"/>
              <a:buChar char="•"/>
            </a:pPr>
            <a:r>
              <a:rPr i="1" lang="en-US"/>
              <a:t>Candida albicans</a:t>
            </a:r>
            <a:r>
              <a:rPr lang="en-US"/>
              <a:t>, a pathogenic fungus that colonizes the denture material polymethyl acrylate</a:t>
            </a:r>
            <a:endParaRPr/>
          </a:p>
          <a:p>
            <a:pPr indent="-228600" lvl="1" marL="685800" rtl="0" algn="l">
              <a:lnSpc>
                <a:spcPct val="90000"/>
              </a:lnSpc>
              <a:spcBef>
                <a:spcPts val="500"/>
              </a:spcBef>
              <a:spcAft>
                <a:spcPts val="0"/>
              </a:spcAft>
              <a:buClr>
                <a:schemeClr val="dk1"/>
              </a:buClr>
              <a:buSzPct val="100000"/>
              <a:buChar char="•"/>
            </a:pPr>
            <a:r>
              <a:rPr lang="en-US"/>
              <a:t>&gt;65% of denture wearers have stomatitis, poor oral hygiene, diabetes</a:t>
            </a:r>
            <a:endParaRPr/>
          </a:p>
          <a:p>
            <a:pPr indent="-228600" lvl="0" marL="228600" rtl="0" algn="l">
              <a:lnSpc>
                <a:spcPct val="90000"/>
              </a:lnSpc>
              <a:spcBef>
                <a:spcPts val="1000"/>
              </a:spcBef>
              <a:spcAft>
                <a:spcPts val="0"/>
              </a:spcAft>
              <a:buClr>
                <a:schemeClr val="dk1"/>
              </a:buClr>
              <a:buSzPct val="100000"/>
              <a:buChar char="•"/>
            </a:pPr>
            <a:r>
              <a:rPr lang="en-US"/>
              <a:t>Dental implants</a:t>
            </a:r>
            <a:endParaRPr/>
          </a:p>
          <a:p>
            <a:pPr indent="-228600" lvl="1" marL="685800" rtl="0" algn="l">
              <a:lnSpc>
                <a:spcPct val="90000"/>
              </a:lnSpc>
              <a:spcBef>
                <a:spcPts val="500"/>
              </a:spcBef>
              <a:spcAft>
                <a:spcPts val="0"/>
              </a:spcAft>
              <a:buClr>
                <a:schemeClr val="dk1"/>
              </a:buClr>
              <a:buSzPct val="100000"/>
              <a:buChar char="•"/>
            </a:pPr>
            <a:r>
              <a:rPr lang="en-US"/>
              <a:t>Peri-implantitis</a:t>
            </a:r>
            <a:endParaRPr/>
          </a:p>
          <a:p>
            <a:pPr indent="-228600" lvl="0" marL="228600" rtl="0" algn="l">
              <a:lnSpc>
                <a:spcPct val="90000"/>
              </a:lnSpc>
              <a:spcBef>
                <a:spcPts val="1000"/>
              </a:spcBef>
              <a:spcAft>
                <a:spcPts val="0"/>
              </a:spcAft>
              <a:buClr>
                <a:schemeClr val="dk1"/>
              </a:buClr>
              <a:buSzPct val="100000"/>
              <a:buChar char="•"/>
            </a:pPr>
            <a:r>
              <a:rPr lang="en-US"/>
              <a:t>Procedures</a:t>
            </a:r>
            <a:endParaRPr/>
          </a:p>
          <a:p>
            <a:pPr indent="-228600" lvl="1" marL="685800" rtl="0" algn="l">
              <a:lnSpc>
                <a:spcPct val="90000"/>
              </a:lnSpc>
              <a:spcBef>
                <a:spcPts val="500"/>
              </a:spcBef>
              <a:spcAft>
                <a:spcPts val="0"/>
              </a:spcAft>
              <a:buClr>
                <a:schemeClr val="dk1"/>
              </a:buClr>
              <a:buSzPct val="100000"/>
              <a:buChar char="•"/>
            </a:pPr>
            <a:r>
              <a:rPr lang="en-US"/>
              <a:t>Root Canal Infections</a:t>
            </a:r>
            <a:endParaRPr/>
          </a:p>
          <a:p>
            <a:pPr indent="-87630" lvl="1" marL="685800" rtl="0" algn="l">
              <a:lnSpc>
                <a:spcPct val="90000"/>
              </a:lnSpc>
              <a:spcBef>
                <a:spcPts val="5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Biofilms can lead to potentially to fatal systemic infections</a:t>
            </a:r>
            <a:endParaRPr/>
          </a:p>
          <a:p>
            <a:pPr indent="-228600" lvl="1" marL="685800" rtl="0" algn="l">
              <a:lnSpc>
                <a:spcPct val="90000"/>
              </a:lnSpc>
              <a:spcBef>
                <a:spcPts val="500"/>
              </a:spcBef>
              <a:spcAft>
                <a:spcPts val="0"/>
              </a:spcAft>
              <a:buClr>
                <a:schemeClr val="dk1"/>
              </a:buClr>
              <a:buSzPct val="100000"/>
              <a:buChar char="•"/>
            </a:pPr>
            <a:r>
              <a:rPr lang="en-US"/>
              <a:t>aspiration-pneumonia and chronic obstructive pulmonary disease (COPD)</a:t>
            </a:r>
            <a:endParaRPr/>
          </a:p>
          <a:p>
            <a:pPr indent="-64135" lvl="0" marL="228600" rtl="0" algn="l">
              <a:lnSpc>
                <a:spcPct val="90000"/>
              </a:lnSpc>
              <a:spcBef>
                <a:spcPts val="1000"/>
              </a:spcBef>
              <a:spcAft>
                <a:spcPts val="0"/>
              </a:spcAft>
              <a:buClr>
                <a:schemeClr val="dk1"/>
              </a:buClr>
              <a:buSzPct val="100000"/>
              <a:buNone/>
            </a:pPr>
            <a:r>
              <a:t/>
            </a:r>
            <a:endParaRPr/>
          </a:p>
        </p:txBody>
      </p:sp>
      <p:sp>
        <p:nvSpPr>
          <p:cNvPr id="187" name="Google Shape;187;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4/13/2020</a:t>
            </a:r>
            <a:endParaRPr/>
          </a:p>
        </p:txBody>
      </p:sp>
      <p:sp>
        <p:nvSpPr>
          <p:cNvPr id="188" name="Google Shape;188;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confidential</a:t>
            </a:r>
            <a:endParaRPr/>
          </a:p>
        </p:txBody>
      </p:sp>
      <p:sp>
        <p:nvSpPr>
          <p:cNvPr id="189" name="Google Shape;189;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Five top oral health diseases</a:t>
            </a:r>
            <a:br>
              <a:rPr lang="en-US"/>
            </a:br>
            <a:endParaRPr/>
          </a:p>
        </p:txBody>
      </p:sp>
      <p:sp>
        <p:nvSpPr>
          <p:cNvPr id="195" name="Google Shape;195;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majority of </a:t>
            </a:r>
            <a:r>
              <a:rPr b="1" lang="en-US"/>
              <a:t>oral health</a:t>
            </a:r>
            <a:r>
              <a:rPr lang="en-US"/>
              <a:t> conditions are: </a:t>
            </a:r>
            <a:endParaRPr/>
          </a:p>
          <a:p>
            <a:pPr indent="-228600" lvl="1" marL="685800" rtl="0" algn="l">
              <a:lnSpc>
                <a:spcPct val="90000"/>
              </a:lnSpc>
              <a:spcBef>
                <a:spcPts val="500"/>
              </a:spcBef>
              <a:spcAft>
                <a:spcPts val="0"/>
              </a:spcAft>
              <a:buClr>
                <a:schemeClr val="dk1"/>
              </a:buClr>
              <a:buSzPts val="2400"/>
              <a:buChar char="•"/>
            </a:pPr>
            <a:r>
              <a:rPr b="1" lang="en-US"/>
              <a:t>dental</a:t>
            </a:r>
            <a:r>
              <a:rPr lang="en-US"/>
              <a:t> caries (tooth decay)</a:t>
            </a:r>
            <a:endParaRPr/>
          </a:p>
          <a:p>
            <a:pPr indent="-228600" lvl="1" marL="685800" rtl="0" algn="l">
              <a:lnSpc>
                <a:spcPct val="90000"/>
              </a:lnSpc>
              <a:spcBef>
                <a:spcPts val="500"/>
              </a:spcBef>
              <a:spcAft>
                <a:spcPts val="0"/>
              </a:spcAft>
              <a:buClr>
                <a:schemeClr val="dk1"/>
              </a:buClr>
              <a:buSzPts val="2400"/>
              <a:buChar char="•"/>
            </a:pPr>
            <a:r>
              <a:rPr lang="en-US"/>
              <a:t>periodontal </a:t>
            </a:r>
            <a:r>
              <a:rPr b="1" lang="en-US"/>
              <a:t>diseases</a:t>
            </a:r>
            <a:endParaRPr/>
          </a:p>
          <a:p>
            <a:pPr indent="-228600" lvl="1" marL="685800" rtl="0" algn="l">
              <a:lnSpc>
                <a:spcPct val="90000"/>
              </a:lnSpc>
              <a:spcBef>
                <a:spcPts val="500"/>
              </a:spcBef>
              <a:spcAft>
                <a:spcPts val="0"/>
              </a:spcAft>
              <a:buClr>
                <a:schemeClr val="dk1"/>
              </a:buClr>
              <a:buSzPts val="2400"/>
              <a:buChar char="•"/>
            </a:pPr>
            <a:r>
              <a:rPr b="1" lang="en-US"/>
              <a:t>oral</a:t>
            </a:r>
            <a:r>
              <a:rPr lang="en-US"/>
              <a:t> cancers</a:t>
            </a:r>
            <a:endParaRPr/>
          </a:p>
          <a:p>
            <a:pPr indent="-228600" lvl="1" marL="685800" rtl="0" algn="l">
              <a:lnSpc>
                <a:spcPct val="90000"/>
              </a:lnSpc>
              <a:spcBef>
                <a:spcPts val="500"/>
              </a:spcBef>
              <a:spcAft>
                <a:spcPts val="0"/>
              </a:spcAft>
              <a:buClr>
                <a:schemeClr val="dk1"/>
              </a:buClr>
              <a:buSzPts val="2400"/>
              <a:buChar char="•"/>
            </a:pPr>
            <a:r>
              <a:rPr b="1" lang="en-US"/>
              <a:t>oral</a:t>
            </a:r>
            <a:r>
              <a:rPr lang="en-US"/>
              <a:t> manifestations of HIV</a:t>
            </a:r>
            <a:endParaRPr/>
          </a:p>
          <a:p>
            <a:pPr indent="-228600" lvl="1" marL="685800" rtl="0" algn="l">
              <a:lnSpc>
                <a:spcPct val="90000"/>
              </a:lnSpc>
              <a:spcBef>
                <a:spcPts val="500"/>
              </a:spcBef>
              <a:spcAft>
                <a:spcPts val="0"/>
              </a:spcAft>
              <a:buClr>
                <a:schemeClr val="dk1"/>
              </a:buClr>
              <a:buSzPts val="2400"/>
              <a:buChar char="•"/>
            </a:pPr>
            <a:r>
              <a:rPr lang="en-US"/>
              <a:t>oro-</a:t>
            </a:r>
            <a:r>
              <a:rPr b="1" lang="en-US"/>
              <a:t>dental</a:t>
            </a:r>
            <a:r>
              <a:rPr lang="en-US"/>
              <a:t> trauma, cleft lip and palate, and noma (severe gangrenous </a:t>
            </a:r>
            <a:r>
              <a:rPr b="1" lang="en-US"/>
              <a:t>disease</a:t>
            </a:r>
            <a:r>
              <a:rPr lang="en-US"/>
              <a:t> starting in the </a:t>
            </a:r>
            <a:r>
              <a:rPr b="1" lang="en-US"/>
              <a:t>mouth</a:t>
            </a:r>
            <a:r>
              <a:rPr lang="en-US"/>
              <a:t> mostly affecting children)</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96" name="Google Shape;196;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4/13/2020</a:t>
            </a:r>
            <a:endParaRPr/>
          </a:p>
        </p:txBody>
      </p:sp>
      <p:sp>
        <p:nvSpPr>
          <p:cNvPr id="197" name="Google Shape;197;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confidential</a:t>
            </a:r>
            <a:endParaRPr/>
          </a:p>
        </p:txBody>
      </p:sp>
      <p:sp>
        <p:nvSpPr>
          <p:cNvPr id="198" name="Google Shape;198;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Market size - Periodontal diseases </a:t>
            </a:r>
            <a:endParaRPr/>
          </a:p>
        </p:txBody>
      </p:sp>
      <p:sp>
        <p:nvSpPr>
          <p:cNvPr id="205" name="Google Shape;205;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Char char="•"/>
            </a:pPr>
            <a:r>
              <a:rPr lang="en-US"/>
              <a:t>Periodontitis </a:t>
            </a:r>
            <a:endParaRPr/>
          </a:p>
          <a:p>
            <a:pPr indent="-228600" lvl="1" marL="685800" rtl="0" algn="l">
              <a:lnSpc>
                <a:spcPct val="90000"/>
              </a:lnSpc>
              <a:spcBef>
                <a:spcPts val="500"/>
              </a:spcBef>
              <a:spcAft>
                <a:spcPts val="0"/>
              </a:spcAft>
              <a:buClr>
                <a:schemeClr val="dk1"/>
              </a:buClr>
              <a:buSzPct val="100000"/>
              <a:buChar char="•"/>
            </a:pPr>
            <a:r>
              <a:rPr lang="en-US"/>
              <a:t>Market size US$ 900 Mn in 2025</a:t>
            </a:r>
            <a:endParaRPr/>
          </a:p>
          <a:p>
            <a:pPr indent="-228600" lvl="1" marL="685800" rtl="0" algn="l">
              <a:lnSpc>
                <a:spcPct val="90000"/>
              </a:lnSpc>
              <a:spcBef>
                <a:spcPts val="500"/>
              </a:spcBef>
              <a:spcAft>
                <a:spcPts val="0"/>
              </a:spcAft>
              <a:buClr>
                <a:schemeClr val="dk1"/>
              </a:buClr>
              <a:buSzPct val="100000"/>
              <a:buChar char="•"/>
            </a:pPr>
            <a:r>
              <a:rPr lang="en-US"/>
              <a:t>of 30–50% of US population; 10% have severe forms </a:t>
            </a:r>
            <a:endParaRPr/>
          </a:p>
          <a:p>
            <a:pPr indent="-228600" lvl="1" marL="685800" rtl="0" algn="l">
              <a:lnSpc>
                <a:spcPct val="90000"/>
              </a:lnSpc>
              <a:spcBef>
                <a:spcPts val="500"/>
              </a:spcBef>
              <a:spcAft>
                <a:spcPts val="0"/>
              </a:spcAft>
              <a:buClr>
                <a:schemeClr val="dk1"/>
              </a:buClr>
              <a:buSzPct val="100000"/>
              <a:buChar char="•"/>
            </a:pPr>
            <a:r>
              <a:rPr lang="en-US"/>
              <a:t>Chronic periodontitis affects about 750 million people or about 10.8% of the population as of 2010 </a:t>
            </a:r>
            <a:endParaRPr/>
          </a:p>
          <a:p>
            <a:pPr indent="-228600" lvl="1" marL="685800" rtl="0" algn="l">
              <a:lnSpc>
                <a:spcPct val="90000"/>
              </a:lnSpc>
              <a:spcBef>
                <a:spcPts val="500"/>
              </a:spcBef>
              <a:spcAft>
                <a:spcPts val="0"/>
              </a:spcAft>
              <a:buClr>
                <a:schemeClr val="dk1"/>
              </a:buClr>
              <a:buSzPct val="100000"/>
              <a:buChar char="•"/>
            </a:pPr>
            <a:r>
              <a:rPr lang="en-US"/>
              <a:t>Gingivitis</a:t>
            </a:r>
            <a:endParaRPr/>
          </a:p>
          <a:p>
            <a:pPr indent="-228600" lvl="1" marL="685800" rtl="0" algn="l">
              <a:lnSpc>
                <a:spcPct val="90000"/>
              </a:lnSpc>
              <a:spcBef>
                <a:spcPts val="500"/>
              </a:spcBef>
              <a:spcAft>
                <a:spcPts val="0"/>
              </a:spcAft>
              <a:buClr>
                <a:schemeClr val="dk1"/>
              </a:buClr>
              <a:buSzPct val="100000"/>
              <a:buChar char="•"/>
            </a:pPr>
            <a:r>
              <a:rPr lang="en-US"/>
              <a:t>Chronic or Aggressive periodontitis</a:t>
            </a:r>
            <a:endParaRPr/>
          </a:p>
          <a:p>
            <a:pPr indent="-228600" lvl="1" marL="685800" rtl="0" algn="l">
              <a:lnSpc>
                <a:spcPct val="90000"/>
              </a:lnSpc>
              <a:spcBef>
                <a:spcPts val="500"/>
              </a:spcBef>
              <a:spcAft>
                <a:spcPts val="0"/>
              </a:spcAft>
              <a:buClr>
                <a:schemeClr val="dk1"/>
              </a:buClr>
              <a:buSzPct val="100000"/>
              <a:buChar char="•"/>
            </a:pPr>
            <a:r>
              <a:rPr lang="en-US"/>
              <a:t>Periodontitis as a manifestation of systemic disease</a:t>
            </a:r>
            <a:endParaRPr/>
          </a:p>
          <a:p>
            <a:pPr indent="-228600" lvl="1" marL="685800" rtl="0" algn="l">
              <a:lnSpc>
                <a:spcPct val="90000"/>
              </a:lnSpc>
              <a:spcBef>
                <a:spcPts val="500"/>
              </a:spcBef>
              <a:spcAft>
                <a:spcPts val="0"/>
              </a:spcAft>
              <a:buClr>
                <a:schemeClr val="dk1"/>
              </a:buClr>
              <a:buSzPct val="100000"/>
              <a:buChar char="•"/>
            </a:pPr>
            <a:r>
              <a:rPr lang="en-US"/>
              <a:t>Abscesses of the periodontium</a:t>
            </a:r>
            <a:endParaRPr/>
          </a:p>
          <a:p>
            <a:pPr indent="-10414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Impact on global economy about $54B/year</a:t>
            </a:r>
            <a:endParaRPr/>
          </a:p>
          <a:p>
            <a:pPr indent="-10414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Number of edentulous people projected to increase to 200M (US)</a:t>
            </a:r>
            <a:endParaRPr/>
          </a:p>
          <a:p>
            <a:pPr indent="-228600" lvl="1" marL="685800" rtl="0" algn="l">
              <a:lnSpc>
                <a:spcPct val="90000"/>
              </a:lnSpc>
              <a:spcBef>
                <a:spcPts val="500"/>
              </a:spcBef>
              <a:spcAft>
                <a:spcPts val="0"/>
              </a:spcAft>
              <a:buClr>
                <a:schemeClr val="dk1"/>
              </a:buClr>
              <a:buSzPct val="100000"/>
              <a:buChar char="•"/>
            </a:pPr>
            <a:r>
              <a:rPr lang="en-US"/>
              <a:t>36M Americans are toothless </a:t>
            </a:r>
            <a:endParaRPr/>
          </a:p>
          <a:p>
            <a:pPr indent="-228600" lvl="1" marL="685800" rtl="0" algn="l">
              <a:lnSpc>
                <a:spcPct val="90000"/>
              </a:lnSpc>
              <a:spcBef>
                <a:spcPts val="500"/>
              </a:spcBef>
              <a:spcAft>
                <a:spcPts val="0"/>
              </a:spcAft>
              <a:buClr>
                <a:schemeClr val="dk1"/>
              </a:buClr>
              <a:buSzPct val="100000"/>
              <a:buChar char="•"/>
            </a:pPr>
            <a:r>
              <a:rPr lang="en-US"/>
              <a:t>&gt;120M Americans are missing at least one tooth</a:t>
            </a:r>
            <a:endParaRPr/>
          </a:p>
          <a:p>
            <a:pPr indent="-228600" lvl="1" marL="685800" rtl="0" algn="l">
              <a:lnSpc>
                <a:spcPct val="90000"/>
              </a:lnSpc>
              <a:spcBef>
                <a:spcPts val="500"/>
              </a:spcBef>
              <a:spcAft>
                <a:spcPts val="0"/>
              </a:spcAft>
              <a:buClr>
                <a:schemeClr val="dk1"/>
              </a:buClr>
              <a:buSzPct val="100000"/>
              <a:buChar char="•"/>
            </a:pPr>
            <a:r>
              <a:rPr lang="en-US"/>
              <a:t>90% have dentures </a:t>
            </a:r>
            <a:endParaRPr/>
          </a:p>
        </p:txBody>
      </p:sp>
      <p:sp>
        <p:nvSpPr>
          <p:cNvPr id="206" name="Google Shape;206;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4/13/2020</a:t>
            </a:r>
            <a:endParaRPr/>
          </a:p>
        </p:txBody>
      </p:sp>
      <p:sp>
        <p:nvSpPr>
          <p:cNvPr id="207" name="Google Shape;207;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confidential</a:t>
            </a:r>
            <a:endParaRPr/>
          </a:p>
        </p:txBody>
      </p:sp>
      <p:sp>
        <p:nvSpPr>
          <p:cNvPr id="208" name="Google Shape;208;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Periodontal therapeutics</a:t>
            </a:r>
            <a:endParaRPr/>
          </a:p>
        </p:txBody>
      </p:sp>
      <p:sp>
        <p:nvSpPr>
          <p:cNvPr id="215" name="Google Shape;215;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Antibiotics </a:t>
            </a:r>
            <a:endParaRPr/>
          </a:p>
          <a:p>
            <a:pPr indent="-228600" lvl="1" marL="685800" rtl="0" algn="l">
              <a:lnSpc>
                <a:spcPct val="90000"/>
              </a:lnSpc>
              <a:spcBef>
                <a:spcPts val="500"/>
              </a:spcBef>
              <a:spcAft>
                <a:spcPts val="0"/>
              </a:spcAft>
              <a:buClr>
                <a:schemeClr val="dk1"/>
              </a:buClr>
              <a:buSzPts val="2400"/>
              <a:buChar char="•"/>
            </a:pPr>
            <a:r>
              <a:rPr lang="en-US"/>
              <a:t>Arestin</a:t>
            </a:r>
            <a:endParaRPr/>
          </a:p>
          <a:p>
            <a:pPr indent="-228600" lvl="1" marL="685800" rtl="0" algn="l">
              <a:lnSpc>
                <a:spcPct val="90000"/>
              </a:lnSpc>
              <a:spcBef>
                <a:spcPts val="500"/>
              </a:spcBef>
              <a:spcAft>
                <a:spcPts val="0"/>
              </a:spcAft>
              <a:buClr>
                <a:schemeClr val="dk1"/>
              </a:buClr>
              <a:buSzPts val="2400"/>
              <a:buChar char="•"/>
            </a:pPr>
            <a:r>
              <a:rPr lang="en-US"/>
              <a:t>Periochip</a:t>
            </a:r>
            <a:endParaRPr/>
          </a:p>
          <a:p>
            <a:pPr indent="-228600" lvl="1" marL="685800" rtl="0" algn="l">
              <a:lnSpc>
                <a:spcPct val="90000"/>
              </a:lnSpc>
              <a:spcBef>
                <a:spcPts val="500"/>
              </a:spcBef>
              <a:spcAft>
                <a:spcPts val="0"/>
              </a:spcAft>
              <a:buClr>
                <a:schemeClr val="dk1"/>
              </a:buClr>
              <a:buSzPts val="2400"/>
              <a:buChar char="•"/>
            </a:pPr>
            <a:r>
              <a:rPr lang="en-US"/>
              <a:t>Atridox</a:t>
            </a:r>
            <a:endParaRPr/>
          </a:p>
          <a:p>
            <a:pPr indent="-228600" lvl="1" marL="685800" rtl="0" algn="l">
              <a:lnSpc>
                <a:spcPct val="90000"/>
              </a:lnSpc>
              <a:spcBef>
                <a:spcPts val="500"/>
              </a:spcBef>
              <a:spcAft>
                <a:spcPts val="0"/>
              </a:spcAft>
              <a:buClr>
                <a:schemeClr val="dk1"/>
              </a:buClr>
              <a:buSzPts val="2400"/>
              <a:buChar char="•"/>
            </a:pPr>
            <a:r>
              <a:rPr lang="en-US"/>
              <a:t>Others</a:t>
            </a:r>
            <a:endParaRPr/>
          </a:p>
          <a:p>
            <a:pPr indent="-50800" lvl="0" marL="228600" rtl="0" algn="l">
              <a:lnSpc>
                <a:spcPct val="90000"/>
              </a:lnSpc>
              <a:spcBef>
                <a:spcPts val="1000"/>
              </a:spcBef>
              <a:spcAft>
                <a:spcPts val="0"/>
              </a:spcAft>
              <a:buClr>
                <a:schemeClr val="dk1"/>
              </a:buClr>
              <a:buSzPts val="2800"/>
              <a:buNone/>
            </a:pPr>
            <a:r>
              <a:t/>
            </a:r>
            <a:endParaRPr/>
          </a:p>
        </p:txBody>
      </p:sp>
      <p:sp>
        <p:nvSpPr>
          <p:cNvPr id="216" name="Google Shape;216;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4/13/2020</a:t>
            </a:r>
            <a:endParaRPr/>
          </a:p>
        </p:txBody>
      </p:sp>
      <p:sp>
        <p:nvSpPr>
          <p:cNvPr id="217" name="Google Shape;217;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confidential</a:t>
            </a:r>
            <a:endParaRPr/>
          </a:p>
        </p:txBody>
      </p:sp>
      <p:sp>
        <p:nvSpPr>
          <p:cNvPr id="218" name="Google Shape;218;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Market Size - Caries</a:t>
            </a:r>
            <a:endParaRPr/>
          </a:p>
        </p:txBody>
      </p:sp>
      <p:sp>
        <p:nvSpPr>
          <p:cNvPr id="225" name="Google Shape;225;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Caries and endodontic market is predicted to grow to almost US$ 17.3 Bn in 2027 (CAGR of 5.1%)</a:t>
            </a:r>
            <a:endParaRPr/>
          </a:p>
          <a:p>
            <a:pPr indent="-228600" lvl="0" marL="228600" rtl="0" algn="l">
              <a:lnSpc>
                <a:spcPct val="90000"/>
              </a:lnSpc>
              <a:spcBef>
                <a:spcPts val="1000"/>
              </a:spcBef>
              <a:spcAft>
                <a:spcPts val="0"/>
              </a:spcAft>
              <a:buClr>
                <a:schemeClr val="dk1"/>
              </a:buClr>
              <a:buSzPts val="2800"/>
              <a:buChar char="•"/>
            </a:pPr>
            <a:r>
              <a:rPr lang="en-US"/>
              <a:t>89% of the North America dental caries and endodontic market</a:t>
            </a:r>
            <a:endParaRPr/>
          </a:p>
          <a:p>
            <a:pPr indent="-228600" lvl="0" marL="228600" rtl="0" algn="l">
              <a:lnSpc>
                <a:spcPct val="90000"/>
              </a:lnSpc>
              <a:spcBef>
                <a:spcPts val="1000"/>
              </a:spcBef>
              <a:spcAft>
                <a:spcPts val="0"/>
              </a:spcAft>
              <a:buClr>
                <a:schemeClr val="dk1"/>
              </a:buClr>
              <a:buSzPts val="2800"/>
              <a:buChar char="•"/>
            </a:pPr>
            <a:r>
              <a:rPr lang="en-US"/>
              <a:t>2.43 billion people (36% of the 				       population) are affected with 						    dental caries</a:t>
            </a:r>
            <a:endParaRPr/>
          </a:p>
          <a:p>
            <a:pPr indent="-50800" lvl="0" marL="228600" rtl="0" algn="l">
              <a:lnSpc>
                <a:spcPct val="90000"/>
              </a:lnSpc>
              <a:spcBef>
                <a:spcPts val="1000"/>
              </a:spcBef>
              <a:spcAft>
                <a:spcPts val="0"/>
              </a:spcAft>
              <a:buClr>
                <a:schemeClr val="dk1"/>
              </a:buClr>
              <a:buSzPts val="2800"/>
              <a:buNone/>
            </a:pPr>
            <a:r>
              <a:t/>
            </a:r>
            <a:endParaRPr/>
          </a:p>
        </p:txBody>
      </p:sp>
      <p:sp>
        <p:nvSpPr>
          <p:cNvPr id="226" name="Google Shape;22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4/13/2020</a:t>
            </a:r>
            <a:endParaRPr/>
          </a:p>
        </p:txBody>
      </p:sp>
      <p:sp>
        <p:nvSpPr>
          <p:cNvPr id="227" name="Google Shape;22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confidential</a:t>
            </a:r>
            <a:endParaRPr/>
          </a:p>
        </p:txBody>
      </p:sp>
      <p:sp>
        <p:nvSpPr>
          <p:cNvPr id="228" name="Google Shape;22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A close up of a device&#10;&#10;Description automatically generated" id="229" name="Google Shape;229;p14"/>
          <p:cNvPicPr preferRelativeResize="0"/>
          <p:nvPr/>
        </p:nvPicPr>
        <p:blipFill rotWithShape="1">
          <a:blip r:embed="rId3">
            <a:alphaModFix/>
          </a:blip>
          <a:srcRect b="0" l="0" r="0" t="0"/>
          <a:stretch/>
        </p:blipFill>
        <p:spPr>
          <a:xfrm>
            <a:off x="5798166" y="3429000"/>
            <a:ext cx="6191250" cy="3238500"/>
          </a:xfrm>
          <a:prstGeom prst="rect">
            <a:avLst/>
          </a:prstGeom>
          <a:noFill/>
          <a:ln>
            <a:noFill/>
          </a:ln>
        </p:spPr>
      </p:pic>
      <p:pic>
        <p:nvPicPr>
          <p:cNvPr id="230" name="Google Shape;230;p14"/>
          <p:cNvPicPr preferRelativeResize="0"/>
          <p:nvPr/>
        </p:nvPicPr>
        <p:blipFill rotWithShape="1">
          <a:blip r:embed="rId4">
            <a:alphaModFix/>
          </a:blip>
          <a:srcRect b="0" l="0" r="0" t="0"/>
          <a:stretch/>
        </p:blipFill>
        <p:spPr>
          <a:xfrm>
            <a:off x="1620265" y="4455989"/>
            <a:ext cx="3512227" cy="197949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Market Size - Dentures stomatitis</a:t>
            </a:r>
            <a:endParaRPr/>
          </a:p>
        </p:txBody>
      </p:sp>
      <p:sp>
        <p:nvSpPr>
          <p:cNvPr id="237" name="Google Shape;237;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Prevalence rates of 2.5-18.3% in adults aged 35-44 years or 65-74 years are reported, with a predominance in the latter age group</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Denture Disinfectants</a:t>
            </a:r>
            <a:endParaRPr/>
          </a:p>
          <a:p>
            <a:pPr indent="-228600" lvl="1" marL="685800" rtl="0" algn="l">
              <a:lnSpc>
                <a:spcPct val="90000"/>
              </a:lnSpc>
              <a:spcBef>
                <a:spcPts val="500"/>
              </a:spcBef>
              <a:spcAft>
                <a:spcPts val="0"/>
              </a:spcAft>
              <a:buClr>
                <a:schemeClr val="dk1"/>
              </a:buClr>
              <a:buSzPts val="2400"/>
              <a:buChar char="•"/>
            </a:pPr>
            <a:r>
              <a:rPr lang="en-US"/>
              <a:t>USD 525 Mn in 2029; 70% US and EU</a:t>
            </a:r>
            <a:endParaRPr/>
          </a:p>
          <a:p>
            <a:pPr indent="-228600" lvl="1" marL="685800" rtl="0" algn="l">
              <a:lnSpc>
                <a:spcPct val="90000"/>
              </a:lnSpc>
              <a:spcBef>
                <a:spcPts val="500"/>
              </a:spcBef>
              <a:spcAft>
                <a:spcPts val="0"/>
              </a:spcAft>
              <a:buClr>
                <a:schemeClr val="dk1"/>
              </a:buClr>
              <a:buSzPts val="2400"/>
              <a:buChar char="•"/>
            </a:pPr>
            <a:r>
              <a:rPr lang="en-US"/>
              <a:t>Ultrasonic Denture Cleaners, Consumables, Tablets, Creams and Pastes, Gels and Solutions</a:t>
            </a:r>
            <a:endParaRPr/>
          </a:p>
          <a:p>
            <a:pPr indent="-228600" lvl="1" marL="685800" rtl="0" algn="l">
              <a:lnSpc>
                <a:spcPct val="90000"/>
              </a:lnSpc>
              <a:spcBef>
                <a:spcPts val="500"/>
              </a:spcBef>
              <a:spcAft>
                <a:spcPts val="0"/>
              </a:spcAft>
              <a:buClr>
                <a:schemeClr val="dk1"/>
              </a:buClr>
              <a:buSzPts val="2400"/>
              <a:buChar char="•"/>
            </a:pPr>
            <a:r>
              <a:rPr lang="en-US"/>
              <a:t>GSK + Prestige Consumer Healthcare Inc own ~49% market</a:t>
            </a:r>
            <a:endParaRPr/>
          </a:p>
          <a:p>
            <a:pPr indent="-228600" lvl="1" marL="685800" rtl="0" algn="l">
              <a:lnSpc>
                <a:spcPct val="90000"/>
              </a:lnSpc>
              <a:spcBef>
                <a:spcPts val="500"/>
              </a:spcBef>
              <a:spcAft>
                <a:spcPts val="0"/>
              </a:spcAft>
              <a:buClr>
                <a:schemeClr val="dk1"/>
              </a:buClr>
              <a:buSzPts val="2400"/>
              <a:buChar char="•"/>
            </a:pPr>
            <a:r>
              <a:rPr lang="en-US"/>
              <a:t>Others: Renfert GmbH, ICPA Health Products Ltd, Colgate-Palmolive Company, Fittydent International GmbH,., Procter &amp; Gamble, Johnson &amp; Johnson, Valplast International Corp., L&amp;R Manufacturing Company</a:t>
            </a:r>
            <a:endParaRPr/>
          </a:p>
          <a:p>
            <a:pPr indent="-76200" lvl="1" marL="685800" rtl="0" algn="l">
              <a:lnSpc>
                <a:spcPct val="90000"/>
              </a:lnSpc>
              <a:spcBef>
                <a:spcPts val="500"/>
              </a:spcBef>
              <a:spcAft>
                <a:spcPts val="0"/>
              </a:spcAft>
              <a:buClr>
                <a:schemeClr val="dk1"/>
              </a:buClr>
              <a:buSzPts val="2400"/>
              <a:buNone/>
            </a:pPr>
            <a:r>
              <a:t/>
            </a:r>
            <a:endParaRPr/>
          </a:p>
        </p:txBody>
      </p:sp>
      <p:sp>
        <p:nvSpPr>
          <p:cNvPr id="238" name="Google Shape;238;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4/13/2020</a:t>
            </a:r>
            <a:endParaRPr/>
          </a:p>
        </p:txBody>
      </p:sp>
      <p:sp>
        <p:nvSpPr>
          <p:cNvPr id="239" name="Google Shape;239;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confidential</a:t>
            </a:r>
            <a:endParaRPr/>
          </a:p>
        </p:txBody>
      </p:sp>
      <p:sp>
        <p:nvSpPr>
          <p:cNvPr id="240" name="Google Shape;240;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Market Size – Root Canal Biofilm</a:t>
            </a:r>
            <a:endParaRPr/>
          </a:p>
        </p:txBody>
      </p:sp>
      <p:sp>
        <p:nvSpPr>
          <p:cNvPr id="247" name="Google Shape;247;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Char char="•"/>
            </a:pPr>
            <a:r>
              <a:rPr lang="en-US"/>
              <a:t>~15.1 million root canal treatments were performed annually</a:t>
            </a:r>
            <a:endParaRPr/>
          </a:p>
          <a:p>
            <a:pPr indent="-228600" lvl="1" marL="685800" rtl="0" algn="l">
              <a:lnSpc>
                <a:spcPct val="90000"/>
              </a:lnSpc>
              <a:spcBef>
                <a:spcPts val="500"/>
              </a:spcBef>
              <a:spcAft>
                <a:spcPts val="0"/>
              </a:spcAft>
              <a:buClr>
                <a:schemeClr val="dk1"/>
              </a:buClr>
              <a:buSzPct val="100000"/>
              <a:buChar char="•"/>
            </a:pPr>
            <a:r>
              <a:rPr lang="en-US"/>
              <a:t>10.9 million / 72% were performed by general dentists</a:t>
            </a:r>
            <a:endParaRPr/>
          </a:p>
          <a:p>
            <a:pPr indent="-228600" lvl="1" marL="685800" rtl="0" algn="l">
              <a:lnSpc>
                <a:spcPct val="90000"/>
              </a:lnSpc>
              <a:spcBef>
                <a:spcPts val="500"/>
              </a:spcBef>
              <a:spcAft>
                <a:spcPts val="0"/>
              </a:spcAft>
              <a:buClr>
                <a:schemeClr val="dk1"/>
              </a:buClr>
              <a:buSzPct val="100000"/>
              <a:buChar char="•"/>
            </a:pPr>
            <a:r>
              <a:rPr lang="en-US"/>
              <a:t>4.2 million / 28% were performed by endodontists</a:t>
            </a:r>
            <a:endParaRPr/>
          </a:p>
          <a:p>
            <a:pPr indent="-228600" lvl="0" marL="228600" rtl="0" algn="l">
              <a:lnSpc>
                <a:spcPct val="90000"/>
              </a:lnSpc>
              <a:spcBef>
                <a:spcPts val="1000"/>
              </a:spcBef>
              <a:spcAft>
                <a:spcPts val="0"/>
              </a:spcAft>
              <a:buClr>
                <a:schemeClr val="dk1"/>
              </a:buClr>
              <a:buSzPct val="100000"/>
              <a:buChar char="•"/>
            </a:pPr>
            <a:r>
              <a:rPr lang="en-US"/>
              <a:t>Corresponds to $16.5B for procedure alone</a:t>
            </a:r>
            <a:endParaRPr/>
          </a:p>
          <a:p>
            <a:pPr indent="-228600" lvl="0" marL="228600" rtl="0" algn="l">
              <a:lnSpc>
                <a:spcPct val="90000"/>
              </a:lnSpc>
              <a:spcBef>
                <a:spcPts val="1000"/>
              </a:spcBef>
              <a:spcAft>
                <a:spcPts val="0"/>
              </a:spcAft>
              <a:buClr>
                <a:schemeClr val="dk1"/>
              </a:buClr>
              <a:buSzPct val="100000"/>
              <a:buChar char="•"/>
            </a:pPr>
            <a:r>
              <a:rPr lang="en-US"/>
              <a:t>90% procedures successful. No data if the 10% are due to infections or others reasons</a:t>
            </a:r>
            <a:endParaRPr/>
          </a:p>
          <a:p>
            <a:pPr indent="-10414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Left untreated, exacerbating root canal infections can be an immediate threat to systemic health, with nearly 7000 hospitalizations per annum reported in the US alone</a:t>
            </a:r>
            <a:endParaRPr/>
          </a:p>
          <a:p>
            <a:pPr indent="-10414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Treatments</a:t>
            </a:r>
            <a:endParaRPr/>
          </a:p>
          <a:p>
            <a:pPr indent="-228600" lvl="1" marL="685800" rtl="0" algn="l">
              <a:lnSpc>
                <a:spcPct val="90000"/>
              </a:lnSpc>
              <a:spcBef>
                <a:spcPts val="500"/>
              </a:spcBef>
              <a:spcAft>
                <a:spcPts val="0"/>
              </a:spcAft>
              <a:buClr>
                <a:schemeClr val="dk1"/>
              </a:buClr>
              <a:buSzPct val="100000"/>
              <a:buChar char="•"/>
            </a:pPr>
            <a:r>
              <a:rPr lang="en-US"/>
              <a:t>Irritants (Proteolytic Irrigants (Sodium hypochlorite), Antiseptics, Demineralizing Agents, Natural Agents)</a:t>
            </a:r>
            <a:endParaRPr/>
          </a:p>
          <a:p>
            <a:pPr indent="-228600" lvl="1" marL="685800" rtl="0" algn="l">
              <a:lnSpc>
                <a:spcPct val="90000"/>
              </a:lnSpc>
              <a:spcBef>
                <a:spcPts val="500"/>
              </a:spcBef>
              <a:spcAft>
                <a:spcPts val="0"/>
              </a:spcAft>
              <a:buClr>
                <a:schemeClr val="dk1"/>
              </a:buClr>
              <a:buSzPct val="100000"/>
              <a:buChar char="•"/>
            </a:pPr>
            <a:r>
              <a:rPr lang="en-US"/>
              <a:t>Nanoparticles Based Disinfection (Chitosan, zinc oxide, silver nanoparticles)</a:t>
            </a:r>
            <a:endParaRPr/>
          </a:p>
          <a:p>
            <a:pPr indent="-228600" lvl="2" marL="1143000" rtl="0" algn="l">
              <a:lnSpc>
                <a:spcPct val="90000"/>
              </a:lnSpc>
              <a:spcBef>
                <a:spcPts val="500"/>
              </a:spcBef>
              <a:spcAft>
                <a:spcPts val="0"/>
              </a:spcAft>
              <a:buClr>
                <a:schemeClr val="dk1"/>
              </a:buClr>
              <a:buSzPct val="100000"/>
              <a:buChar char="•"/>
            </a:pPr>
            <a:r>
              <a:rPr lang="en-US"/>
              <a:t>Rapid uptake</a:t>
            </a:r>
            <a:endParaRPr/>
          </a:p>
          <a:p>
            <a:pPr indent="-228600" lvl="1" marL="685800" rtl="0" algn="l">
              <a:lnSpc>
                <a:spcPct val="90000"/>
              </a:lnSpc>
              <a:spcBef>
                <a:spcPts val="500"/>
              </a:spcBef>
              <a:spcAft>
                <a:spcPts val="0"/>
              </a:spcAft>
              <a:buClr>
                <a:schemeClr val="dk1"/>
              </a:buClr>
              <a:buSzPct val="100000"/>
              <a:buChar char="•"/>
            </a:pPr>
            <a:r>
              <a:rPr lang="en-US"/>
              <a:t>Photodynamic therapy</a:t>
            </a:r>
            <a:endParaRPr/>
          </a:p>
          <a:p>
            <a:pPr indent="-228600" lvl="2" marL="1143000" rtl="0" algn="l">
              <a:lnSpc>
                <a:spcPct val="90000"/>
              </a:lnSpc>
              <a:spcBef>
                <a:spcPts val="500"/>
              </a:spcBef>
              <a:spcAft>
                <a:spcPts val="0"/>
              </a:spcAft>
              <a:buClr>
                <a:schemeClr val="dk1"/>
              </a:buClr>
              <a:buSzPct val="100000"/>
              <a:buChar char="•"/>
            </a:pPr>
            <a:r>
              <a:rPr i="1" lang="en-US"/>
              <a:t>Rose bengal</a:t>
            </a:r>
            <a:r>
              <a:rPr lang="en-US"/>
              <a:t>, a non-toxic dye, becomes cytotoxic when activated with a low-intensity visible light and oxygen</a:t>
            </a:r>
            <a:endParaRPr/>
          </a:p>
        </p:txBody>
      </p:sp>
      <p:sp>
        <p:nvSpPr>
          <p:cNvPr id="248" name="Google Shape;248;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4/13/2020</a:t>
            </a:r>
            <a:endParaRPr/>
          </a:p>
        </p:txBody>
      </p:sp>
      <p:sp>
        <p:nvSpPr>
          <p:cNvPr id="249" name="Google Shape;249;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confidential</a:t>
            </a:r>
            <a:endParaRPr/>
          </a:p>
        </p:txBody>
      </p:sp>
      <p:sp>
        <p:nvSpPr>
          <p:cNvPr id="250" name="Google Shape;250;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4" name="Shape 254"/>
        <p:cNvGrpSpPr/>
        <p:nvPr/>
      </p:nvGrpSpPr>
      <p:grpSpPr>
        <a:xfrm>
          <a:off x="0" y="0"/>
          <a:ext cx="0" cy="0"/>
          <a:chOff x="0" y="0"/>
          <a:chExt cx="0" cy="0"/>
        </a:xfrm>
      </p:grpSpPr>
      <p:sp>
        <p:nvSpPr>
          <p:cNvPr id="255" name="Google Shape;255;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Market Size – Biofilms and Dental implants</a:t>
            </a:r>
            <a:endParaRPr/>
          </a:p>
        </p:txBody>
      </p:sp>
      <p:sp>
        <p:nvSpPr>
          <p:cNvPr id="256" name="Google Shape;256;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257" name="Google Shape;257;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4/13/2020</a:t>
            </a:r>
            <a:endParaRPr/>
          </a:p>
        </p:txBody>
      </p:sp>
      <p:sp>
        <p:nvSpPr>
          <p:cNvPr id="258" name="Google Shape;258;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confidential</a:t>
            </a:r>
            <a:endParaRPr/>
          </a:p>
        </p:txBody>
      </p:sp>
      <p:sp>
        <p:nvSpPr>
          <p:cNvPr id="259" name="Google Shape;25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lang="en-US"/>
              <a:t>Biofilm Formation</a:t>
            </a:r>
            <a:endParaRPr/>
          </a:p>
        </p:txBody>
      </p:sp>
      <p:sp>
        <p:nvSpPr>
          <p:cNvPr id="265" name="Google Shape;265;p1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88888"/>
              </a:buClr>
              <a:buSzPts val="2400"/>
              <a:buNone/>
            </a:pPr>
            <a:r>
              <a:t/>
            </a:r>
            <a:endParaRPr/>
          </a:p>
        </p:txBody>
      </p:sp>
      <p:sp>
        <p:nvSpPr>
          <p:cNvPr id="266" name="Google Shape;266;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4/13/2020</a:t>
            </a:r>
            <a:endParaRPr/>
          </a:p>
        </p:txBody>
      </p:sp>
      <p:sp>
        <p:nvSpPr>
          <p:cNvPr id="267" name="Google Shape;267;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confidential</a:t>
            </a:r>
            <a:endParaRPr/>
          </a:p>
        </p:txBody>
      </p:sp>
      <p:sp>
        <p:nvSpPr>
          <p:cNvPr id="268" name="Google Shape;268;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Biofilm formation in the Oral cavity</a:t>
            </a:r>
            <a:endParaRPr/>
          </a:p>
        </p:txBody>
      </p:sp>
      <p:sp>
        <p:nvSpPr>
          <p:cNvPr id="275" name="Google Shape;275;p19"/>
          <p:cNvSpPr txBox="1"/>
          <p:nvPr>
            <p:ph idx="1" type="body"/>
          </p:nvPr>
        </p:nvSpPr>
        <p:spPr>
          <a:xfrm>
            <a:off x="838200" y="1487003"/>
            <a:ext cx="10515600" cy="2901233"/>
          </a:xfrm>
          <a:prstGeom prst="rect">
            <a:avLst/>
          </a:prstGeom>
          <a:noFill/>
          <a:ln>
            <a:noFill/>
          </a:ln>
        </p:spPr>
        <p:txBody>
          <a:bodyPr anchorCtr="0" anchor="t" bIns="45700" lIns="91425" spcFirstLastPara="1" rIns="91425" wrap="square" tIns="45700">
            <a:normAutofit/>
          </a:bodyPr>
          <a:lstStyle/>
          <a:p>
            <a:pPr indent="-228600" lvl="1" marL="685800" rtl="0" algn="l">
              <a:lnSpc>
                <a:spcPct val="90000"/>
              </a:lnSpc>
              <a:spcBef>
                <a:spcPts val="0"/>
              </a:spcBef>
              <a:spcAft>
                <a:spcPts val="0"/>
              </a:spcAft>
              <a:buClr>
                <a:schemeClr val="dk1"/>
              </a:buClr>
              <a:buSzPts val="2800"/>
              <a:buChar char="•"/>
            </a:pPr>
            <a:r>
              <a:rPr lang="en-US" sz="2800"/>
              <a:t>Early biofilm: primarily Gram-positive cocci</a:t>
            </a:r>
            <a:endParaRPr/>
          </a:p>
          <a:p>
            <a:pPr indent="-228600" lvl="1" marL="685800" rtl="0" algn="l">
              <a:lnSpc>
                <a:spcPct val="90000"/>
              </a:lnSpc>
              <a:spcBef>
                <a:spcPts val="500"/>
              </a:spcBef>
              <a:spcAft>
                <a:spcPts val="0"/>
              </a:spcAft>
              <a:buClr>
                <a:schemeClr val="dk1"/>
              </a:buClr>
              <a:buSzPts val="2800"/>
              <a:buChar char="•"/>
            </a:pPr>
            <a:r>
              <a:rPr lang="en-US" sz="2800"/>
              <a:t>3–4 days increased numbers of filaments and fusiforms</a:t>
            </a:r>
            <a:endParaRPr sz="2800"/>
          </a:p>
          <a:p>
            <a:pPr indent="-228600" lvl="1" marL="685800" rtl="0" algn="l">
              <a:lnSpc>
                <a:spcPct val="90000"/>
              </a:lnSpc>
              <a:spcBef>
                <a:spcPts val="500"/>
              </a:spcBef>
              <a:spcAft>
                <a:spcPts val="0"/>
              </a:spcAft>
              <a:buClr>
                <a:schemeClr val="dk1"/>
              </a:buClr>
              <a:buSzPts val="2800"/>
              <a:buChar char="•"/>
            </a:pPr>
            <a:r>
              <a:rPr lang="en-US" sz="2800"/>
              <a:t>4–9 days undisturbed: more complex flora with rods, filamentous forms</a:t>
            </a:r>
            <a:endParaRPr/>
          </a:p>
          <a:p>
            <a:pPr indent="-228600" lvl="1" marL="685800" rtl="0" algn="l">
              <a:lnSpc>
                <a:spcPct val="90000"/>
              </a:lnSpc>
              <a:spcBef>
                <a:spcPts val="500"/>
              </a:spcBef>
              <a:spcAft>
                <a:spcPts val="0"/>
              </a:spcAft>
              <a:buClr>
                <a:schemeClr val="dk1"/>
              </a:buClr>
              <a:buSzPts val="2800"/>
              <a:buChar char="•"/>
            </a:pPr>
            <a:r>
              <a:rPr lang="en-US" sz="2800"/>
              <a:t>7–14 days: Vibrio species, spirochetes, more Gram-negative organisms</a:t>
            </a:r>
            <a:endParaRPr/>
          </a:p>
        </p:txBody>
      </p:sp>
      <p:sp>
        <p:nvSpPr>
          <p:cNvPr id="276" name="Google Shape;276;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4/13/2020</a:t>
            </a:r>
            <a:endParaRPr/>
          </a:p>
        </p:txBody>
      </p:sp>
      <p:sp>
        <p:nvSpPr>
          <p:cNvPr id="277" name="Google Shape;277;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confidential</a:t>
            </a:r>
            <a:endParaRPr/>
          </a:p>
        </p:txBody>
      </p:sp>
      <p:sp>
        <p:nvSpPr>
          <p:cNvPr id="278" name="Google Shape;278;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79" name="Google Shape;279;p19"/>
          <p:cNvSpPr/>
          <p:nvPr/>
        </p:nvSpPr>
        <p:spPr>
          <a:xfrm>
            <a:off x="1197077" y="4184551"/>
            <a:ext cx="6096000"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Early colonisers</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mainly </a:t>
            </a:r>
            <a:r>
              <a:rPr i="1" lang="en-US" sz="1800" u="sng">
                <a:solidFill>
                  <a:schemeClr val="dk1"/>
                </a:solidFill>
                <a:latin typeface="Calibri"/>
                <a:ea typeface="Calibri"/>
                <a:cs typeface="Calibri"/>
                <a:sym typeface="Calibri"/>
                <a:hlinkClick r:id="rId3">
                  <a:extLst>
                    <a:ext uri="{A12FA001-AC4F-418D-AE19-62706E023703}">
                      <ahyp:hlinkClr val="tx"/>
                    </a:ext>
                  </a:extLst>
                </a:hlinkClick>
              </a:rPr>
              <a:t>Streptococcus</a:t>
            </a:r>
            <a:r>
              <a:rPr lang="en-US" sz="1800">
                <a:solidFill>
                  <a:schemeClr val="dk1"/>
                </a:solidFill>
                <a:latin typeface="Calibri"/>
                <a:ea typeface="Calibri"/>
                <a:cs typeface="Calibri"/>
                <a:sym typeface="Calibri"/>
              </a:rPr>
              <a:t> species (60-90%)</a:t>
            </a:r>
            <a:endParaRPr/>
          </a:p>
          <a:p>
            <a:pPr indent="0" lvl="0" marL="0" marR="0" rtl="0" algn="l">
              <a:spcBef>
                <a:spcPts val="0"/>
              </a:spcBef>
              <a:spcAft>
                <a:spcPts val="0"/>
              </a:spcAft>
              <a:buNone/>
            </a:pPr>
            <a:r>
              <a:rPr i="1" lang="en-US" sz="1800" u="sng">
                <a:solidFill>
                  <a:schemeClr val="dk1"/>
                </a:solidFill>
                <a:latin typeface="Calibri"/>
                <a:ea typeface="Calibri"/>
                <a:cs typeface="Calibri"/>
                <a:sym typeface="Calibri"/>
                <a:hlinkClick r:id="rId4">
                  <a:extLst>
                    <a:ext uri="{A12FA001-AC4F-418D-AE19-62706E023703}">
                      <ahyp:hlinkClr val="tx"/>
                    </a:ext>
                  </a:extLst>
                </a:hlinkClick>
              </a:rPr>
              <a:t>Eikenella</a:t>
            </a:r>
            <a:r>
              <a:rPr lang="en-US" sz="1800">
                <a:solidFill>
                  <a:schemeClr val="dk1"/>
                </a:solidFill>
                <a:latin typeface="Calibri"/>
                <a:ea typeface="Calibri"/>
                <a:cs typeface="Calibri"/>
                <a:sym typeface="Calibri"/>
              </a:rPr>
              <a:t> spp.</a:t>
            </a:r>
            <a:endParaRPr/>
          </a:p>
          <a:p>
            <a:pPr indent="0" lvl="0" marL="0" marR="0" rtl="0" algn="l">
              <a:spcBef>
                <a:spcPts val="0"/>
              </a:spcBef>
              <a:spcAft>
                <a:spcPts val="0"/>
              </a:spcAft>
              <a:buNone/>
            </a:pPr>
            <a:r>
              <a:rPr i="1" lang="en-US" sz="1800" u="sng">
                <a:solidFill>
                  <a:schemeClr val="dk1"/>
                </a:solidFill>
                <a:latin typeface="Calibri"/>
                <a:ea typeface="Calibri"/>
                <a:cs typeface="Calibri"/>
                <a:sym typeface="Calibri"/>
                <a:hlinkClick r:id="rId5">
                  <a:extLst>
                    <a:ext uri="{A12FA001-AC4F-418D-AE19-62706E023703}">
                      <ahyp:hlinkClr val="tx"/>
                    </a:ext>
                  </a:extLst>
                </a:hlinkClick>
              </a:rPr>
              <a:t>Haemophilus</a:t>
            </a:r>
            <a:r>
              <a:rPr lang="en-US" sz="1800">
                <a:solidFill>
                  <a:schemeClr val="dk1"/>
                </a:solidFill>
                <a:latin typeface="Calibri"/>
                <a:ea typeface="Calibri"/>
                <a:cs typeface="Calibri"/>
                <a:sym typeface="Calibri"/>
              </a:rPr>
              <a:t> spp.</a:t>
            </a:r>
            <a:endParaRPr/>
          </a:p>
          <a:p>
            <a:pPr indent="0" lvl="0" marL="0" marR="0" rtl="0" algn="l">
              <a:spcBef>
                <a:spcPts val="0"/>
              </a:spcBef>
              <a:spcAft>
                <a:spcPts val="0"/>
              </a:spcAft>
              <a:buNone/>
            </a:pPr>
            <a:r>
              <a:rPr i="1" lang="en-US" sz="1800" u="sng">
                <a:solidFill>
                  <a:schemeClr val="dk1"/>
                </a:solidFill>
                <a:latin typeface="Calibri"/>
                <a:ea typeface="Calibri"/>
                <a:cs typeface="Calibri"/>
                <a:sym typeface="Calibri"/>
                <a:hlinkClick r:id="rId6">
                  <a:extLst>
                    <a:ext uri="{A12FA001-AC4F-418D-AE19-62706E023703}">
                      <ahyp:hlinkClr val="tx"/>
                    </a:ext>
                  </a:extLst>
                </a:hlinkClick>
              </a:rPr>
              <a:t>Prevotella</a:t>
            </a:r>
            <a:r>
              <a:rPr lang="en-US" sz="1800">
                <a:solidFill>
                  <a:schemeClr val="dk1"/>
                </a:solidFill>
                <a:latin typeface="Calibri"/>
                <a:ea typeface="Calibri"/>
                <a:cs typeface="Calibri"/>
                <a:sym typeface="Calibri"/>
              </a:rPr>
              <a:t> spp.</a:t>
            </a:r>
            <a:endParaRPr/>
          </a:p>
          <a:p>
            <a:pPr indent="0" lvl="0" marL="0" marR="0" rtl="0" algn="l">
              <a:spcBef>
                <a:spcPts val="0"/>
              </a:spcBef>
              <a:spcAft>
                <a:spcPts val="0"/>
              </a:spcAft>
              <a:buNone/>
            </a:pPr>
            <a:r>
              <a:rPr i="1" lang="en-US" sz="1800" u="sng">
                <a:solidFill>
                  <a:schemeClr val="dk1"/>
                </a:solidFill>
                <a:latin typeface="Calibri"/>
                <a:ea typeface="Calibri"/>
                <a:cs typeface="Calibri"/>
                <a:sym typeface="Calibri"/>
                <a:hlinkClick r:id="rId7">
                  <a:extLst>
                    <a:ext uri="{A12FA001-AC4F-418D-AE19-62706E023703}">
                      <ahyp:hlinkClr val="tx"/>
                    </a:ext>
                  </a:extLst>
                </a:hlinkClick>
              </a:rPr>
              <a:t>Priopionibacterium</a:t>
            </a:r>
            <a:r>
              <a:rPr lang="en-US" sz="1800">
                <a:solidFill>
                  <a:schemeClr val="dk1"/>
                </a:solidFill>
                <a:latin typeface="Calibri"/>
                <a:ea typeface="Calibri"/>
                <a:cs typeface="Calibri"/>
                <a:sym typeface="Calibri"/>
              </a:rPr>
              <a:t> spp.</a:t>
            </a:r>
            <a:endParaRPr/>
          </a:p>
          <a:p>
            <a:pPr indent="0" lvl="0" marL="0" marR="0" rtl="0" algn="l">
              <a:spcBef>
                <a:spcPts val="0"/>
              </a:spcBef>
              <a:spcAft>
                <a:spcPts val="0"/>
              </a:spcAft>
              <a:buNone/>
            </a:pPr>
            <a:r>
              <a:rPr i="1" lang="en-US" sz="1800" u="sng">
                <a:solidFill>
                  <a:schemeClr val="dk1"/>
                </a:solidFill>
                <a:latin typeface="Calibri"/>
                <a:ea typeface="Calibri"/>
                <a:cs typeface="Calibri"/>
                <a:sym typeface="Calibri"/>
                <a:hlinkClick r:id="rId8">
                  <a:extLst>
                    <a:ext uri="{A12FA001-AC4F-418D-AE19-62706E023703}">
                      <ahyp:hlinkClr val="tx"/>
                    </a:ext>
                  </a:extLst>
                </a:hlinkClick>
              </a:rPr>
              <a:t>Capnocytophaga</a:t>
            </a:r>
            <a:r>
              <a:rPr lang="en-US" sz="1800">
                <a:solidFill>
                  <a:schemeClr val="dk1"/>
                </a:solidFill>
                <a:latin typeface="Calibri"/>
                <a:ea typeface="Calibri"/>
                <a:cs typeface="Calibri"/>
                <a:sym typeface="Calibri"/>
              </a:rPr>
              <a:t> spp.</a:t>
            </a:r>
            <a:endParaRPr/>
          </a:p>
          <a:p>
            <a:pPr indent="0" lvl="0" marL="0" marR="0" rtl="0" algn="l">
              <a:spcBef>
                <a:spcPts val="0"/>
              </a:spcBef>
              <a:spcAft>
                <a:spcPts val="0"/>
              </a:spcAft>
              <a:buNone/>
            </a:pPr>
            <a:r>
              <a:rPr i="1" lang="en-US" sz="1800">
                <a:solidFill>
                  <a:schemeClr val="dk1"/>
                </a:solidFill>
                <a:latin typeface="Calibri"/>
                <a:ea typeface="Calibri"/>
                <a:cs typeface="Calibri"/>
                <a:sym typeface="Calibri"/>
              </a:rPr>
              <a:t>Veillonella</a:t>
            </a:r>
            <a:r>
              <a:rPr lang="en-US" sz="1800">
                <a:solidFill>
                  <a:schemeClr val="dk1"/>
                </a:solidFill>
                <a:latin typeface="Calibri"/>
                <a:ea typeface="Calibri"/>
                <a:cs typeface="Calibri"/>
                <a:sym typeface="Calibri"/>
              </a:rPr>
              <a:t> spp.</a:t>
            </a:r>
            <a:endParaRPr/>
          </a:p>
        </p:txBody>
      </p:sp>
      <p:sp>
        <p:nvSpPr>
          <p:cNvPr id="280" name="Google Shape;280;p19"/>
          <p:cNvSpPr/>
          <p:nvPr/>
        </p:nvSpPr>
        <p:spPr>
          <a:xfrm>
            <a:off x="5931309" y="4184551"/>
            <a:ext cx="6096000"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Late colonisers</a:t>
            </a:r>
            <a:r>
              <a:rPr lang="en-U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i="1" lang="en-US" sz="1800">
                <a:solidFill>
                  <a:schemeClr val="dk1"/>
                </a:solidFill>
                <a:latin typeface="Calibri"/>
                <a:ea typeface="Calibri"/>
                <a:cs typeface="Calibri"/>
                <a:sym typeface="Calibri"/>
              </a:rPr>
              <a:t>A. actino- mycetemcomitans</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i="1" lang="en-US" sz="1800">
                <a:solidFill>
                  <a:schemeClr val="dk1"/>
                </a:solidFill>
                <a:latin typeface="Calibri"/>
                <a:ea typeface="Calibri"/>
                <a:cs typeface="Calibri"/>
                <a:sym typeface="Calibri"/>
              </a:rPr>
              <a:t>Prevotella intermedia</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i="1" lang="en-US" sz="1800" u="sng">
                <a:solidFill>
                  <a:schemeClr val="dk1"/>
                </a:solidFill>
                <a:latin typeface="Calibri"/>
                <a:ea typeface="Calibri"/>
                <a:cs typeface="Calibri"/>
                <a:sym typeface="Calibri"/>
                <a:hlinkClick r:id="rId9">
                  <a:extLst>
                    <a:ext uri="{A12FA001-AC4F-418D-AE19-62706E023703}">
                      <ahyp:hlinkClr val="tx"/>
                    </a:ext>
                  </a:extLst>
                </a:hlinkClick>
              </a:rPr>
              <a:t>Eubacterium</a:t>
            </a:r>
            <a:r>
              <a:rPr lang="en-US" sz="1800">
                <a:solidFill>
                  <a:schemeClr val="dk1"/>
                </a:solidFill>
                <a:latin typeface="Calibri"/>
                <a:ea typeface="Calibri"/>
                <a:cs typeface="Calibri"/>
                <a:sym typeface="Calibri"/>
              </a:rPr>
              <a:t> spp.</a:t>
            </a:r>
            <a:endParaRPr/>
          </a:p>
          <a:p>
            <a:pPr indent="0" lvl="0" marL="0" marR="0" rtl="0" algn="l">
              <a:spcBef>
                <a:spcPts val="0"/>
              </a:spcBef>
              <a:spcAft>
                <a:spcPts val="0"/>
              </a:spcAft>
              <a:buNone/>
            </a:pPr>
            <a:r>
              <a:rPr i="1" lang="en-US" sz="1800" u="sng">
                <a:solidFill>
                  <a:schemeClr val="dk1"/>
                </a:solidFill>
                <a:latin typeface="Calibri"/>
                <a:ea typeface="Calibri"/>
                <a:cs typeface="Calibri"/>
                <a:sym typeface="Calibri"/>
                <a:hlinkClick r:id="rId10">
                  <a:extLst>
                    <a:ext uri="{A12FA001-AC4F-418D-AE19-62706E023703}">
                      <ahyp:hlinkClr val="tx"/>
                    </a:ext>
                  </a:extLst>
                </a:hlinkClick>
              </a:rPr>
              <a:t>Treponema</a:t>
            </a:r>
            <a:r>
              <a:rPr lang="en-US" sz="1800">
                <a:solidFill>
                  <a:schemeClr val="dk1"/>
                </a:solidFill>
                <a:latin typeface="Calibri"/>
                <a:ea typeface="Calibri"/>
                <a:cs typeface="Calibri"/>
                <a:sym typeface="Calibri"/>
              </a:rPr>
              <a:t> spp.</a:t>
            </a:r>
            <a:endParaRPr/>
          </a:p>
          <a:p>
            <a:pPr indent="0" lvl="0" marL="0" marR="0" rtl="0" algn="l">
              <a:spcBef>
                <a:spcPts val="0"/>
              </a:spcBef>
              <a:spcAft>
                <a:spcPts val="0"/>
              </a:spcAft>
              <a:buNone/>
            </a:pPr>
            <a:r>
              <a:rPr i="1" lang="en-US" sz="1800" u="sng">
                <a:solidFill>
                  <a:schemeClr val="dk1"/>
                </a:solidFill>
                <a:latin typeface="Calibri"/>
                <a:ea typeface="Calibri"/>
                <a:cs typeface="Calibri"/>
                <a:sym typeface="Calibri"/>
                <a:hlinkClick r:id="rId11">
                  <a:extLst>
                    <a:ext uri="{A12FA001-AC4F-418D-AE19-62706E023703}">
                      <ahyp:hlinkClr val="tx"/>
                    </a:ext>
                  </a:extLst>
                </a:hlinkClick>
              </a:rPr>
              <a:t>Porphyromonas gingivalis</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i="1" lang="en-US" sz="1800" u="sng">
                <a:solidFill>
                  <a:schemeClr val="dk1"/>
                </a:solidFill>
                <a:latin typeface="Calibri"/>
                <a:ea typeface="Calibri"/>
                <a:cs typeface="Calibri"/>
                <a:sym typeface="Calibri"/>
                <a:hlinkClick r:id="rId12">
                  <a:extLst>
                    <a:ext uri="{A12FA001-AC4F-418D-AE19-62706E023703}">
                      <ahyp:hlinkClr val="tx"/>
                    </a:ext>
                  </a:extLst>
                </a:hlinkClick>
              </a:rPr>
              <a:t>Fusobacterium nucleatum</a:t>
            </a:r>
            <a:r>
              <a:rPr lang="en-US" sz="1800">
                <a:solidFill>
                  <a:schemeClr val="dk1"/>
                </a:solidFill>
                <a:latin typeface="Calibri"/>
                <a:ea typeface="Calibri"/>
                <a:cs typeface="Calibri"/>
                <a:sym typeface="Calibri"/>
              </a:rPr>
              <a:t> is found between the early and late colonisers, linking them together.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Composition of Oral biofilms</a:t>
            </a:r>
            <a:endParaRPr/>
          </a:p>
        </p:txBody>
      </p:sp>
      <p:pic>
        <p:nvPicPr>
          <p:cNvPr id="287" name="Google Shape;287;p20"/>
          <p:cNvPicPr preferRelativeResize="0"/>
          <p:nvPr>
            <p:ph idx="1" type="body"/>
          </p:nvPr>
        </p:nvPicPr>
        <p:blipFill rotWithShape="1">
          <a:blip r:embed="rId3">
            <a:alphaModFix/>
          </a:blip>
          <a:srcRect b="0" l="0" r="0" t="0"/>
          <a:stretch/>
        </p:blipFill>
        <p:spPr>
          <a:xfrm>
            <a:off x="2599684" y="1410723"/>
            <a:ext cx="6057450" cy="4987190"/>
          </a:xfrm>
          <a:prstGeom prst="rect">
            <a:avLst/>
          </a:prstGeom>
          <a:noFill/>
          <a:ln>
            <a:noFill/>
          </a:ln>
        </p:spPr>
      </p:pic>
      <p:sp>
        <p:nvSpPr>
          <p:cNvPr id="288" name="Google Shape;288;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4/13/2020</a:t>
            </a:r>
            <a:endParaRPr/>
          </a:p>
        </p:txBody>
      </p:sp>
      <p:sp>
        <p:nvSpPr>
          <p:cNvPr id="289" name="Google Shape;289;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confidential</a:t>
            </a:r>
            <a:endParaRPr/>
          </a:p>
        </p:txBody>
      </p:sp>
      <p:sp>
        <p:nvSpPr>
          <p:cNvPr id="290" name="Google Shape;290;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91" name="Google Shape;291;p20"/>
          <p:cNvSpPr/>
          <p:nvPr/>
        </p:nvSpPr>
        <p:spPr>
          <a:xfrm>
            <a:off x="4982884" y="3581152"/>
            <a:ext cx="60960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rgbClr val="2E2E2E"/>
              </a:solidFill>
              <a:latin typeface="Arial"/>
              <a:ea typeface="Arial"/>
              <a:cs typeface="Arial"/>
              <a:sym typeface="Arial"/>
            </a:endParaRPr>
          </a:p>
          <a:p>
            <a:pPr indent="0" lvl="0" marL="0" marR="0" rtl="0" algn="l">
              <a:spcBef>
                <a:spcPts val="0"/>
              </a:spcBef>
              <a:spcAft>
                <a:spcPts val="0"/>
              </a:spcAft>
              <a:buNone/>
            </a:pPr>
            <a:r>
              <a:rPr lang="en-US" sz="1800">
                <a:solidFill>
                  <a:srgbClr val="2E2E2E"/>
                </a:solidFill>
                <a:latin typeface="Arial"/>
                <a:ea typeface="Arial"/>
                <a:cs typeface="Arial"/>
                <a:sym typeface="Arial"/>
              </a:rPr>
              <a:t>eDNA</a:t>
            </a:r>
            <a:endParaRPr b="0" i="0" sz="1800" u="none" strike="noStrike">
              <a:solidFill>
                <a:srgbClr val="2E2E2E"/>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Detecting Biofilm</a:t>
            </a:r>
            <a:endParaRPr/>
          </a:p>
        </p:txBody>
      </p:sp>
      <p:sp>
        <p:nvSpPr>
          <p:cNvPr id="297" name="Google Shape;297;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Grow a swap on a plate</a:t>
            </a:r>
            <a:endParaRPr/>
          </a:p>
          <a:p>
            <a:pPr indent="-228600" lvl="1" marL="685800" rtl="0" algn="l">
              <a:lnSpc>
                <a:spcPct val="90000"/>
              </a:lnSpc>
              <a:spcBef>
                <a:spcPts val="500"/>
              </a:spcBef>
              <a:spcAft>
                <a:spcPts val="0"/>
              </a:spcAft>
              <a:buClr>
                <a:schemeClr val="dk1"/>
              </a:buClr>
              <a:buSzPts val="2400"/>
              <a:buChar char="•"/>
            </a:pPr>
            <a:r>
              <a:rPr lang="en-US"/>
              <a:t>Requires cell culture equipment</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Dental Plaque Disclosing Agent</a:t>
            </a:r>
            <a:endParaRPr/>
          </a:p>
          <a:p>
            <a:pPr indent="-228600" lvl="1" marL="685800" rtl="0" algn="l">
              <a:lnSpc>
                <a:spcPct val="90000"/>
              </a:lnSpc>
              <a:spcBef>
                <a:spcPts val="500"/>
              </a:spcBef>
              <a:spcAft>
                <a:spcPts val="0"/>
              </a:spcAft>
              <a:buClr>
                <a:schemeClr val="dk1"/>
              </a:buClr>
              <a:buSzPts val="2400"/>
              <a:buChar char="•"/>
            </a:pPr>
            <a:r>
              <a:rPr lang="en-US"/>
              <a:t>Phloxine B - antimicrobial substance, viability dye and biological stain</a:t>
            </a:r>
            <a:endParaRPr/>
          </a:p>
          <a:p>
            <a:pPr indent="-228600" lvl="1" marL="685800" rtl="0" algn="l">
              <a:lnSpc>
                <a:spcPct val="90000"/>
              </a:lnSpc>
              <a:spcBef>
                <a:spcPts val="500"/>
              </a:spcBef>
              <a:spcAft>
                <a:spcPts val="0"/>
              </a:spcAft>
              <a:buClr>
                <a:schemeClr val="dk1"/>
              </a:buClr>
              <a:buSzPts val="2400"/>
              <a:buChar char="•"/>
            </a:pPr>
            <a:r>
              <a:rPr lang="en-US"/>
              <a:t>Erythrosine - pink dye, primarily used for food coloring</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Mechanical / texture of surfaces</a:t>
            </a:r>
            <a:endParaRPr/>
          </a:p>
          <a:p>
            <a:pPr indent="0" lvl="1" marL="457200" rtl="0" algn="l">
              <a:lnSpc>
                <a:spcPct val="90000"/>
              </a:lnSpc>
              <a:spcBef>
                <a:spcPts val="500"/>
              </a:spcBef>
              <a:spcAft>
                <a:spcPts val="0"/>
              </a:spcAft>
              <a:buClr>
                <a:schemeClr val="dk1"/>
              </a:buClr>
              <a:buSzPts val="2400"/>
              <a:buNone/>
            </a:pPr>
            <a:r>
              <a:t/>
            </a:r>
            <a:endParaRPr/>
          </a:p>
        </p:txBody>
      </p:sp>
      <p:sp>
        <p:nvSpPr>
          <p:cNvPr id="298" name="Google Shape;29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4/13/2020</a:t>
            </a:r>
            <a:endParaRPr/>
          </a:p>
        </p:txBody>
      </p:sp>
      <p:sp>
        <p:nvSpPr>
          <p:cNvPr id="299" name="Google Shape;29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confidential</a:t>
            </a:r>
            <a:endParaRPr/>
          </a:p>
        </p:txBody>
      </p:sp>
      <p:sp>
        <p:nvSpPr>
          <p:cNvPr id="300" name="Google Shape;30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Common Treatments</a:t>
            </a:r>
            <a:endParaRPr/>
          </a:p>
        </p:txBody>
      </p:sp>
      <p:sp>
        <p:nvSpPr>
          <p:cNvPr id="307" name="Google Shape;307;p22"/>
          <p:cNvSpPr txBox="1"/>
          <p:nvPr>
            <p:ph idx="1" type="body"/>
          </p:nvPr>
        </p:nvSpPr>
        <p:spPr>
          <a:xfrm>
            <a:off x="838200" y="1825625"/>
            <a:ext cx="10941148"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Mouthwash with Chlorhexidine </a:t>
            </a:r>
            <a:endParaRPr/>
          </a:p>
          <a:p>
            <a:pPr indent="-228600" lvl="1" marL="685800" rtl="0" algn="l">
              <a:lnSpc>
                <a:spcPct val="90000"/>
              </a:lnSpc>
              <a:spcBef>
                <a:spcPts val="500"/>
              </a:spcBef>
              <a:spcAft>
                <a:spcPts val="0"/>
              </a:spcAft>
              <a:buClr>
                <a:schemeClr val="dk1"/>
              </a:buClr>
              <a:buSzPct val="100000"/>
              <a:buChar char="•"/>
            </a:pPr>
            <a:r>
              <a:rPr lang="en-US"/>
              <a:t>is active against Gram-positive and Gram-negative organisms, facultative anaerobes, aerobes, and yeasts</a:t>
            </a:r>
            <a:endParaRPr/>
          </a:p>
          <a:p>
            <a:pPr indent="-228600" lvl="1" marL="685800" rtl="0" algn="l">
              <a:lnSpc>
                <a:spcPct val="90000"/>
              </a:lnSpc>
              <a:spcBef>
                <a:spcPts val="500"/>
              </a:spcBef>
              <a:spcAft>
                <a:spcPts val="0"/>
              </a:spcAft>
              <a:buClr>
                <a:schemeClr val="dk1"/>
              </a:buClr>
              <a:buSzPct val="100000"/>
              <a:buChar char="•"/>
            </a:pPr>
            <a:r>
              <a:rPr lang="en-US"/>
              <a:t>Discolors enamel </a:t>
            </a:r>
            <a:endParaRPr/>
          </a:p>
          <a:p>
            <a:pPr indent="-228600" lvl="1" marL="685800" rtl="0" algn="l">
              <a:lnSpc>
                <a:spcPct val="90000"/>
              </a:lnSpc>
              <a:spcBef>
                <a:spcPts val="500"/>
              </a:spcBef>
              <a:spcAft>
                <a:spcPts val="0"/>
              </a:spcAft>
              <a:buClr>
                <a:schemeClr val="dk1"/>
              </a:buClr>
              <a:buSzPct val="100000"/>
              <a:buChar char="•"/>
            </a:pPr>
            <a:r>
              <a:rPr lang="en-US"/>
              <a:t>20 mL twice a day of concentrations of 0.1% to 0.2%</a:t>
            </a:r>
            <a:endParaRPr/>
          </a:p>
          <a:p>
            <a:pPr indent="-228600" lvl="1" marL="685800" rtl="0" algn="l">
              <a:lnSpc>
                <a:spcPct val="90000"/>
              </a:lnSpc>
              <a:spcBef>
                <a:spcPts val="500"/>
              </a:spcBef>
              <a:spcAft>
                <a:spcPts val="0"/>
              </a:spcAft>
              <a:buClr>
                <a:schemeClr val="dk1"/>
              </a:buClr>
              <a:buSzPct val="100000"/>
              <a:buChar char="•"/>
            </a:pPr>
            <a:r>
              <a:rPr lang="en-US"/>
              <a:t>reduction in gingivitis over 6 months of use</a:t>
            </a:r>
            <a:endParaRPr/>
          </a:p>
          <a:p>
            <a:pPr indent="-228600" lvl="1" marL="685800" rtl="0" algn="l">
              <a:lnSpc>
                <a:spcPct val="90000"/>
              </a:lnSpc>
              <a:spcBef>
                <a:spcPts val="500"/>
              </a:spcBef>
              <a:spcAft>
                <a:spcPts val="0"/>
              </a:spcAft>
              <a:buClr>
                <a:schemeClr val="dk1"/>
              </a:buClr>
              <a:buSzPct val="100000"/>
              <a:buChar char="•"/>
            </a:pPr>
            <a:r>
              <a:rPr lang="en-US"/>
              <a:t>Interacts with anionic compounds in toothpaste, use wash 30 min after brushing</a:t>
            </a:r>
            <a:endParaRPr/>
          </a:p>
          <a:p>
            <a:pPr indent="-228600" lvl="0" marL="228600" rtl="0" algn="l">
              <a:lnSpc>
                <a:spcPct val="90000"/>
              </a:lnSpc>
              <a:spcBef>
                <a:spcPts val="1000"/>
              </a:spcBef>
              <a:spcAft>
                <a:spcPts val="0"/>
              </a:spcAft>
              <a:buClr>
                <a:schemeClr val="dk1"/>
              </a:buClr>
              <a:buSzPct val="100000"/>
              <a:buChar char="•"/>
            </a:pPr>
            <a:r>
              <a:rPr lang="en-US"/>
              <a:t>Herbal-based mouth rinses</a:t>
            </a:r>
            <a:endParaRPr/>
          </a:p>
          <a:p>
            <a:pPr indent="-228600" lvl="1" marL="685800" rtl="0" algn="l">
              <a:lnSpc>
                <a:spcPct val="90000"/>
              </a:lnSpc>
              <a:spcBef>
                <a:spcPts val="500"/>
              </a:spcBef>
              <a:spcAft>
                <a:spcPts val="0"/>
              </a:spcAft>
              <a:buClr>
                <a:schemeClr val="dk1"/>
              </a:buClr>
              <a:buSzPct val="100000"/>
              <a:buChar char="•"/>
            </a:pPr>
            <a:r>
              <a:rPr i="1" lang="en-US"/>
              <a:t>Centella asiatica, Echinacea purpurea,</a:t>
            </a:r>
            <a:r>
              <a:rPr lang="en-US"/>
              <a:t> and </a:t>
            </a:r>
            <a:r>
              <a:rPr i="1" lang="en-US"/>
              <a:t>Sambucus nigra</a:t>
            </a:r>
            <a:endParaRPr i="1"/>
          </a:p>
          <a:p>
            <a:pPr indent="-228600" lvl="1" marL="685800" rtl="0" algn="l">
              <a:lnSpc>
                <a:spcPct val="90000"/>
              </a:lnSpc>
              <a:spcBef>
                <a:spcPts val="500"/>
              </a:spcBef>
              <a:spcAft>
                <a:spcPts val="0"/>
              </a:spcAft>
              <a:buClr>
                <a:schemeClr val="dk1"/>
              </a:buClr>
              <a:buSzPct val="100000"/>
              <a:buChar char="•"/>
            </a:pPr>
            <a:r>
              <a:rPr lang="en-US"/>
              <a:t>botanical oral rinse displayed a clear advantage over control in preventing plaque formation and gingival inflammation</a:t>
            </a:r>
            <a:endParaRPr/>
          </a:p>
          <a:p>
            <a:pPr indent="-228600" lvl="0" marL="228600" rtl="0" algn="l">
              <a:lnSpc>
                <a:spcPct val="90000"/>
              </a:lnSpc>
              <a:spcBef>
                <a:spcPts val="1000"/>
              </a:spcBef>
              <a:spcAft>
                <a:spcPts val="0"/>
              </a:spcAft>
              <a:buClr>
                <a:schemeClr val="dk1"/>
              </a:buClr>
              <a:buSzPct val="100000"/>
              <a:buChar char="•"/>
            </a:pPr>
            <a:r>
              <a:rPr lang="en-US"/>
              <a:t>H</a:t>
            </a:r>
            <a:r>
              <a:rPr baseline="-25000" lang="en-US"/>
              <a:t>2</a:t>
            </a:r>
            <a:r>
              <a:rPr lang="en-US"/>
              <a:t>O</a:t>
            </a:r>
            <a:r>
              <a:rPr baseline="-25000" lang="en-US"/>
              <a:t>2</a:t>
            </a:r>
            <a:endParaRPr/>
          </a:p>
          <a:p>
            <a:pPr indent="-228600" lvl="1" marL="685800" rtl="0" algn="l">
              <a:lnSpc>
                <a:spcPct val="90000"/>
              </a:lnSpc>
              <a:spcBef>
                <a:spcPts val="500"/>
              </a:spcBef>
              <a:spcAft>
                <a:spcPts val="0"/>
              </a:spcAft>
              <a:buClr>
                <a:schemeClr val="dk1"/>
              </a:buClr>
              <a:buSzPct val="100000"/>
              <a:buChar char="•"/>
            </a:pPr>
            <a:r>
              <a:rPr lang="en-US"/>
              <a:t>Short term effect, quick repopulation from plaque</a:t>
            </a:r>
            <a:endParaRPr/>
          </a:p>
          <a:p>
            <a:pPr indent="-87630" lvl="1" marL="685800" rtl="0" algn="l">
              <a:lnSpc>
                <a:spcPct val="90000"/>
              </a:lnSpc>
              <a:spcBef>
                <a:spcPts val="500"/>
              </a:spcBef>
              <a:spcAft>
                <a:spcPts val="0"/>
              </a:spcAft>
              <a:buClr>
                <a:schemeClr val="dk1"/>
              </a:buClr>
              <a:buSzPct val="100000"/>
              <a:buNone/>
            </a:pPr>
            <a:r>
              <a:t/>
            </a:r>
            <a:endParaRPr/>
          </a:p>
        </p:txBody>
      </p:sp>
      <p:sp>
        <p:nvSpPr>
          <p:cNvPr id="308" name="Google Shape;308;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4/13/2020</a:t>
            </a:r>
            <a:endParaRPr/>
          </a:p>
        </p:txBody>
      </p:sp>
      <p:sp>
        <p:nvSpPr>
          <p:cNvPr id="309" name="Google Shape;309;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confidential</a:t>
            </a:r>
            <a:endParaRPr/>
          </a:p>
        </p:txBody>
      </p:sp>
      <p:sp>
        <p:nvSpPr>
          <p:cNvPr id="310" name="Google Shape;310;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4" name="Shape 314"/>
        <p:cNvGrpSpPr/>
        <p:nvPr/>
      </p:nvGrpSpPr>
      <p:grpSpPr>
        <a:xfrm>
          <a:off x="0" y="0"/>
          <a:ext cx="0" cy="0"/>
          <a:chOff x="0" y="0"/>
          <a:chExt cx="0" cy="0"/>
        </a:xfrm>
      </p:grpSpPr>
      <p:sp>
        <p:nvSpPr>
          <p:cNvPr id="315" name="Google Shape;315;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Companies / Products</a:t>
            </a:r>
            <a:endParaRPr/>
          </a:p>
        </p:txBody>
      </p:sp>
      <p:sp>
        <p:nvSpPr>
          <p:cNvPr id="316" name="Google Shape;316;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317" name="Google Shape;317;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4/13/2020</a:t>
            </a:r>
            <a:endParaRPr/>
          </a:p>
        </p:txBody>
      </p:sp>
      <p:sp>
        <p:nvSpPr>
          <p:cNvPr id="318" name="Google Shape;318;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confidential</a:t>
            </a:r>
            <a:endParaRPr/>
          </a:p>
        </p:txBody>
      </p:sp>
      <p:sp>
        <p:nvSpPr>
          <p:cNvPr id="319" name="Google Shape;319;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lang="en-US"/>
              <a:t>Ongoing Developments</a:t>
            </a:r>
            <a:endParaRPr/>
          </a:p>
        </p:txBody>
      </p:sp>
      <p:sp>
        <p:nvSpPr>
          <p:cNvPr id="325" name="Google Shape;325;p2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88888"/>
              </a:buClr>
              <a:buSzPts val="2400"/>
              <a:buNone/>
            </a:pPr>
            <a:r>
              <a:t/>
            </a:r>
            <a:endParaRPr/>
          </a:p>
        </p:txBody>
      </p:sp>
      <p:sp>
        <p:nvSpPr>
          <p:cNvPr id="326" name="Google Shape;326;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4/13/2020</a:t>
            </a:r>
            <a:endParaRPr/>
          </a:p>
        </p:txBody>
      </p:sp>
      <p:sp>
        <p:nvSpPr>
          <p:cNvPr id="327" name="Google Shape;327;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confidential</a:t>
            </a:r>
            <a:endParaRPr/>
          </a:p>
        </p:txBody>
      </p:sp>
      <p:sp>
        <p:nvSpPr>
          <p:cNvPr id="328" name="Google Shape;328;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Ongoing Tech / Product Developments</a:t>
            </a:r>
            <a:endParaRPr/>
          </a:p>
        </p:txBody>
      </p:sp>
      <p:sp>
        <p:nvSpPr>
          <p:cNvPr id="335" name="Google Shape;335;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Bacteriophages</a:t>
            </a:r>
            <a:endParaRPr/>
          </a:p>
          <a:p>
            <a:pPr indent="-228600" lvl="1" marL="685800" rtl="0" algn="l">
              <a:lnSpc>
                <a:spcPct val="90000"/>
              </a:lnSpc>
              <a:spcBef>
                <a:spcPts val="500"/>
              </a:spcBef>
              <a:spcAft>
                <a:spcPts val="0"/>
              </a:spcAft>
              <a:buClr>
                <a:schemeClr val="dk1"/>
              </a:buClr>
              <a:buSzPts val="2400"/>
              <a:buChar char="•"/>
            </a:pPr>
            <a:r>
              <a:rPr lang="en-US"/>
              <a:t>bacteriophage disrupts a biofilm from within the matrix by killing the bacterial cells. Limitations are the ECM. </a:t>
            </a:r>
            <a:endParaRPr/>
          </a:p>
          <a:p>
            <a:pPr indent="-228600" lvl="0" marL="228600" rtl="0" algn="l">
              <a:lnSpc>
                <a:spcPct val="90000"/>
              </a:lnSpc>
              <a:spcBef>
                <a:spcPts val="1000"/>
              </a:spcBef>
              <a:spcAft>
                <a:spcPts val="0"/>
              </a:spcAft>
              <a:buClr>
                <a:schemeClr val="dk1"/>
              </a:buClr>
              <a:buSzPts val="2800"/>
              <a:buChar char="•"/>
            </a:pPr>
            <a:r>
              <a:rPr lang="en-US"/>
              <a:t>Antimicrobial peptides (AMPs) </a:t>
            </a:r>
            <a:endParaRPr/>
          </a:p>
          <a:p>
            <a:pPr indent="-228600" lvl="1" marL="685800" rtl="0" algn="l">
              <a:lnSpc>
                <a:spcPct val="90000"/>
              </a:lnSpc>
              <a:spcBef>
                <a:spcPts val="500"/>
              </a:spcBef>
              <a:spcAft>
                <a:spcPts val="0"/>
              </a:spcAft>
              <a:buClr>
                <a:schemeClr val="dk1"/>
              </a:buClr>
              <a:buSzPts val="2400"/>
              <a:buChar char="•"/>
            </a:pPr>
            <a:r>
              <a:rPr lang="en-US"/>
              <a:t>destabilize bacterial membranes through electrostatic interactions</a:t>
            </a:r>
            <a:endParaRPr/>
          </a:p>
          <a:p>
            <a:pPr indent="-228600" lvl="0" marL="228600" rtl="0" algn="l">
              <a:lnSpc>
                <a:spcPct val="90000"/>
              </a:lnSpc>
              <a:spcBef>
                <a:spcPts val="1000"/>
              </a:spcBef>
              <a:spcAft>
                <a:spcPts val="0"/>
              </a:spcAft>
              <a:buClr>
                <a:schemeClr val="dk1"/>
              </a:buClr>
              <a:buSzPts val="2800"/>
              <a:buChar char="•"/>
            </a:pPr>
            <a:r>
              <a:rPr lang="en-US"/>
              <a:t>Quorum sensing / Quorum Sensing Inhibitors</a:t>
            </a:r>
            <a:endParaRPr/>
          </a:p>
          <a:p>
            <a:pPr indent="-228600" lvl="1" marL="685800" rtl="0" algn="l">
              <a:lnSpc>
                <a:spcPct val="90000"/>
              </a:lnSpc>
              <a:spcBef>
                <a:spcPts val="500"/>
              </a:spcBef>
              <a:spcAft>
                <a:spcPts val="0"/>
              </a:spcAft>
              <a:buClr>
                <a:schemeClr val="dk1"/>
              </a:buClr>
              <a:buSzPts val="2400"/>
              <a:buChar char="•"/>
            </a:pPr>
            <a:r>
              <a:rPr lang="en-US"/>
              <a:t>Disrupt cell-cell communication</a:t>
            </a:r>
            <a:endParaRPr/>
          </a:p>
          <a:p>
            <a:pPr indent="-228600" lvl="1" marL="685800" rtl="0" algn="l">
              <a:lnSpc>
                <a:spcPct val="90000"/>
              </a:lnSpc>
              <a:spcBef>
                <a:spcPts val="500"/>
              </a:spcBef>
              <a:spcAft>
                <a:spcPts val="0"/>
              </a:spcAft>
              <a:buClr>
                <a:schemeClr val="dk1"/>
              </a:buClr>
              <a:buSzPts val="2400"/>
              <a:buChar char="•"/>
            </a:pPr>
            <a:r>
              <a:rPr lang="en-US"/>
              <a:t>used by microbes to control gene expression with regards to phenotype</a:t>
            </a:r>
            <a:endParaRPr/>
          </a:p>
        </p:txBody>
      </p:sp>
      <p:sp>
        <p:nvSpPr>
          <p:cNvPr id="336" name="Google Shape;336;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4/13/2020</a:t>
            </a:r>
            <a:endParaRPr/>
          </a:p>
        </p:txBody>
      </p:sp>
      <p:sp>
        <p:nvSpPr>
          <p:cNvPr id="337" name="Google Shape;337;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confidential</a:t>
            </a:r>
            <a:endParaRPr/>
          </a:p>
        </p:txBody>
      </p:sp>
      <p:sp>
        <p:nvSpPr>
          <p:cNvPr id="338" name="Google Shape;338;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Ongoing Tech / Product Developments</a:t>
            </a:r>
            <a:endParaRPr/>
          </a:p>
        </p:txBody>
      </p:sp>
      <p:sp>
        <p:nvSpPr>
          <p:cNvPr id="345" name="Google Shape;345;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Continuously deliver warm NaOCl via new devices based on negative pressure </a:t>
            </a:r>
            <a:endParaRPr/>
          </a:p>
          <a:p>
            <a:pPr indent="-228600" lvl="0" marL="228600" rtl="0" algn="l">
              <a:lnSpc>
                <a:spcPct val="90000"/>
              </a:lnSpc>
              <a:spcBef>
                <a:spcPts val="1000"/>
              </a:spcBef>
              <a:spcAft>
                <a:spcPts val="0"/>
              </a:spcAft>
              <a:buClr>
                <a:schemeClr val="dk1"/>
              </a:buClr>
              <a:buSzPts val="2800"/>
              <a:buChar char="•"/>
            </a:pPr>
            <a:r>
              <a:rPr lang="en-US"/>
              <a:t>Alternatively, techniques such as ultrasonic activation also increases the temperature of the irrigating solution and may prove to be beneficial</a:t>
            </a:r>
            <a:endParaRPr/>
          </a:p>
        </p:txBody>
      </p:sp>
      <p:sp>
        <p:nvSpPr>
          <p:cNvPr id="346" name="Google Shape;346;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4/13/2020</a:t>
            </a:r>
            <a:endParaRPr/>
          </a:p>
        </p:txBody>
      </p:sp>
      <p:sp>
        <p:nvSpPr>
          <p:cNvPr id="347" name="Google Shape;347;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confidential</a:t>
            </a:r>
            <a:endParaRPr/>
          </a:p>
        </p:txBody>
      </p:sp>
      <p:sp>
        <p:nvSpPr>
          <p:cNvPr id="348" name="Google Shape;348;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2" name="Shape 352"/>
        <p:cNvGrpSpPr/>
        <p:nvPr/>
      </p:nvGrpSpPr>
      <p:grpSpPr>
        <a:xfrm>
          <a:off x="0" y="0"/>
          <a:ext cx="0" cy="0"/>
          <a:chOff x="0" y="0"/>
          <a:chExt cx="0" cy="0"/>
        </a:xfrm>
      </p:grpSpPr>
      <p:sp>
        <p:nvSpPr>
          <p:cNvPr id="353" name="Google Shape;353;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Studies</a:t>
            </a:r>
            <a:endParaRPr/>
          </a:p>
        </p:txBody>
      </p:sp>
      <p:sp>
        <p:nvSpPr>
          <p:cNvPr id="354" name="Google Shape;354;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355" name="Google Shape;355;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4/13/2020</a:t>
            </a:r>
            <a:endParaRPr/>
          </a:p>
        </p:txBody>
      </p:sp>
      <p:sp>
        <p:nvSpPr>
          <p:cNvPr id="356" name="Google Shape;356;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confidential</a:t>
            </a:r>
            <a:endParaRPr/>
          </a:p>
        </p:txBody>
      </p:sp>
      <p:sp>
        <p:nvSpPr>
          <p:cNvPr id="357" name="Google Shape;357;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2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lang="en-US"/>
              <a:t>Appendix</a:t>
            </a:r>
            <a:endParaRPr/>
          </a:p>
        </p:txBody>
      </p:sp>
      <p:sp>
        <p:nvSpPr>
          <p:cNvPr id="363" name="Google Shape;363;p2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88888"/>
              </a:buClr>
              <a:buSzPts val="2400"/>
              <a:buNone/>
            </a:pPr>
            <a:r>
              <a:t/>
            </a:r>
            <a:endParaRPr/>
          </a:p>
        </p:txBody>
      </p:sp>
      <p:sp>
        <p:nvSpPr>
          <p:cNvPr id="364" name="Google Shape;364;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4/13/2020</a:t>
            </a:r>
            <a:endParaRPr/>
          </a:p>
        </p:txBody>
      </p:sp>
      <p:sp>
        <p:nvSpPr>
          <p:cNvPr id="365" name="Google Shape;365;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confidential</a:t>
            </a:r>
            <a:endParaRPr/>
          </a:p>
        </p:txBody>
      </p:sp>
      <p:sp>
        <p:nvSpPr>
          <p:cNvPr id="366" name="Google Shape;366;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pic>
        <p:nvPicPr>
          <p:cNvPr id="372" name="Google Shape;372;p29"/>
          <p:cNvPicPr preferRelativeResize="0"/>
          <p:nvPr/>
        </p:nvPicPr>
        <p:blipFill rotWithShape="1">
          <a:blip r:embed="rId3">
            <a:alphaModFix/>
          </a:blip>
          <a:srcRect b="0" l="0" r="0" t="0"/>
          <a:stretch/>
        </p:blipFill>
        <p:spPr>
          <a:xfrm>
            <a:off x="1240387" y="0"/>
            <a:ext cx="9711226" cy="6858000"/>
          </a:xfrm>
          <a:prstGeom prst="rect">
            <a:avLst/>
          </a:prstGeom>
          <a:noFill/>
          <a:ln>
            <a:noFill/>
          </a:ln>
        </p:spPr>
      </p:pic>
      <p:sp>
        <p:nvSpPr>
          <p:cNvPr id="373" name="Google Shape;373;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4/13/2020</a:t>
            </a:r>
            <a:endParaRPr/>
          </a:p>
        </p:txBody>
      </p:sp>
      <p:sp>
        <p:nvSpPr>
          <p:cNvPr id="374" name="Google Shape;374;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confidential</a:t>
            </a:r>
            <a:endParaRPr/>
          </a:p>
        </p:txBody>
      </p:sp>
      <p:sp>
        <p:nvSpPr>
          <p:cNvPr id="375" name="Google Shape;375;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4/13/2020</a:t>
            </a:r>
            <a:endParaRPr/>
          </a:p>
        </p:txBody>
      </p:sp>
      <p:sp>
        <p:nvSpPr>
          <p:cNvPr id="382" name="Google Shape;382;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confidential</a:t>
            </a:r>
            <a:endParaRPr/>
          </a:p>
        </p:txBody>
      </p:sp>
      <p:sp>
        <p:nvSpPr>
          <p:cNvPr id="383" name="Google Shape;383;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84" name="Google Shape;384;p30"/>
          <p:cNvSpPr/>
          <p:nvPr/>
        </p:nvSpPr>
        <p:spPr>
          <a:xfrm>
            <a:off x="77384" y="0"/>
            <a:ext cx="11696107" cy="64633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NORTH AMERICA RESTORATIVE DENTISTRY - MARKET SEGMENTATION</a:t>
            </a:r>
            <a:br>
              <a:rPr lang="en-US" sz="1800">
                <a:solidFill>
                  <a:schemeClr val="dk1"/>
                </a:solidFill>
                <a:latin typeface="Calibri"/>
                <a:ea typeface="Calibri"/>
                <a:cs typeface="Calibri"/>
                <a:sym typeface="Calibri"/>
              </a:rPr>
            </a:b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By Product</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Restorative Materials</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Direct Restorative Material</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Amalgam</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Composites</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Glass Ionomers</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Other Direct Restorative Materials</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Indirect Restorative Materials</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Metal-Ceramic</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Ceramic</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Other Indirect Restorative Materials</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Biomaterials</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MTA</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Biodentine</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Etching and Bonding Agents/Adhesives</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Dental Impression Materials</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Implants</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Prosthetics</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Restorative Equipment</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CAD/CAM Systems</a:t>
            </a:r>
            <a:endParaRPr/>
          </a:p>
        </p:txBody>
      </p:sp>
      <p:sp>
        <p:nvSpPr>
          <p:cNvPr id="385" name="Google Shape;385;p30"/>
          <p:cNvSpPr/>
          <p:nvPr/>
        </p:nvSpPr>
        <p:spPr>
          <a:xfrm>
            <a:off x="5042296" y="553998"/>
            <a:ext cx="6096000" cy="59093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Handpieces</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Rotary Instruments</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Light Curing Equipment</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Casting Devices</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Mixing Devices</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Furnaces</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Articulating Equipment</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By End User</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Hospitals and Clinics</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Dental Laboratories</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Dental Schools and Research Institutes</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By Geography</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North America</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US</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Canada</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Mexico</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Company Profiles</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Danaher</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3M</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p:txBody>
      </p:sp>
      <p:sp>
        <p:nvSpPr>
          <p:cNvPr id="386" name="Google Shape;386;p30"/>
          <p:cNvSpPr/>
          <p:nvPr/>
        </p:nvSpPr>
        <p:spPr>
          <a:xfrm>
            <a:off x="9375560" y="720878"/>
            <a:ext cx="6096000" cy="31393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Dentsply Sirona</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Ivoclar Vivadent AG</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Ultradent Products Inc.</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Institut Straumann AG</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Zimmer Biomet</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GC Corporation</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Mitsui Chemicals, Inc.</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VOCO GmbH</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Brasseler USA</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DiaDent Group</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2020-04-01T04:21:28Z</dcterms:created>
  <dc:creator>Harald Nuhn</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0x01010004DF73440D694844B29AB230B9DE685A</vt:lpwstr>
  </property>
</Properties>
</file>